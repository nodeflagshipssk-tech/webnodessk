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6.jpg" ContentType="image/jpeg"/>
  <Override PartName="/ppt/media/image49.jpg" ContentType="image/jpeg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media/image6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58" r:id="rId4"/>
    <p:sldId id="259" r:id="rId5"/>
    <p:sldId id="260" r:id="rId6"/>
    <p:sldId id="271" r:id="rId7"/>
    <p:sldId id="272" r:id="rId8"/>
    <p:sldId id="262" r:id="rId9"/>
    <p:sldId id="263" r:id="rId10"/>
    <p:sldId id="264" r:id="rId11"/>
    <p:sldId id="265" r:id="rId12"/>
    <p:sldId id="269" r:id="rId13"/>
    <p:sldId id="270" r:id="rId14"/>
    <p:sldId id="267" r:id="rId15"/>
    <p:sldId id="268" r:id="rId16"/>
  </p:sldIdLst>
  <p:sldSz cx="18288000" cy="10287000"/>
  <p:notesSz cx="10018713" cy="68865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สไตล์สีอ่อน 2 - เน้น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สไตล์ธีม 2 - เน้น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สไตล์สีปานกลาง 2 - เน้น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5" autoAdjust="0"/>
    <p:restoredTop sz="94660"/>
  </p:normalViewPr>
  <p:slideViewPr>
    <p:cSldViewPr>
      <p:cViewPr varScale="1">
        <p:scale>
          <a:sx n="44" d="100"/>
          <a:sy n="44" d="100"/>
        </p:scale>
        <p:origin x="97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&#3648;&#3623;&#3636;&#3619;&#3660;&#3585;&#3610;&#3640;&#3658;&#3585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&#3648;&#3623;&#3636;&#3619;&#3660;&#3585;&#3610;&#3640;&#3658;&#3585;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&#3648;&#3623;&#3636;&#3619;&#3660;&#3585;&#3610;&#3640;&#3658;&#3585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ปี 2566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จำนวนครั้งที่เกิดอุบัติเหตุ</c:v>
                </c:pt>
                <c:pt idx="1">
                  <c:v>จำนวนผู้บาดเจ็บ</c:v>
                </c:pt>
                <c:pt idx="2">
                  <c:v>จำนวนผู้เสียชีวิต</c:v>
                </c:pt>
                <c:pt idx="3">
                  <c:v>จำนวนบาดเจ็บรุนแรง</c:v>
                </c:pt>
              </c:strCache>
            </c:strRef>
          </c:cat>
          <c:val>
            <c:numRef>
              <c:f>Sheet1!$B$3:$B$6</c:f>
              <c:numCache>
                <c:formatCode>General</c:formatCode>
                <c:ptCount val="4"/>
                <c:pt idx="0">
                  <c:v>16</c:v>
                </c:pt>
                <c:pt idx="1">
                  <c:v>15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D8-45A7-A273-E1E8ED12CFD1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ปี 2567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จำนวนครั้งที่เกิดอุบัติเหตุ</c:v>
                </c:pt>
                <c:pt idx="1">
                  <c:v>จำนวนผู้บาดเจ็บ</c:v>
                </c:pt>
                <c:pt idx="2">
                  <c:v>จำนวนผู้เสียชีวิต</c:v>
                </c:pt>
                <c:pt idx="3">
                  <c:v>จำนวนบาดเจ็บรุนแรง</c:v>
                </c:pt>
              </c:strCache>
            </c:strRef>
          </c:cat>
          <c:val>
            <c:numRef>
              <c:f>Sheet1!$C$3:$C$6</c:f>
              <c:numCache>
                <c:formatCode>General</c:formatCode>
                <c:ptCount val="4"/>
                <c:pt idx="0">
                  <c:v>21</c:v>
                </c:pt>
                <c:pt idx="1">
                  <c:v>20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D8-45A7-A273-E1E8ED12C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575085248"/>
        <c:axId val="1488131072"/>
      </c:barChart>
      <c:catAx>
        <c:axId val="1575085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488131072"/>
        <c:crosses val="autoZero"/>
        <c:auto val="1"/>
        <c:lblAlgn val="ctr"/>
        <c:lblOffset val="100"/>
        <c:noMultiLvlLbl val="0"/>
      </c:catAx>
      <c:valAx>
        <c:axId val="148813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57508524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th-TH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 (2)'!$B$2</c:f>
              <c:strCache>
                <c:ptCount val="1"/>
                <c:pt idx="0">
                  <c:v>ปี 2566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'Sheet1 (2)'!$A$3:$A$5</c:f>
              <c:strCache>
                <c:ptCount val="3"/>
                <c:pt idx="0">
                  <c:v>ถนนสายหลัก (ทล.226)</c:v>
                </c:pt>
                <c:pt idx="1">
                  <c:v>ถนนในหมู่บ้าน</c:v>
                </c:pt>
                <c:pt idx="2">
                  <c:v>บริเวณเกษตรกรรม</c:v>
                </c:pt>
              </c:strCache>
            </c:strRef>
          </c:cat>
          <c:val>
            <c:numRef>
              <c:f>'Sheet1 (2)'!$B$3:$B$5</c:f>
              <c:numCache>
                <c:formatCode>General</c:formatCode>
                <c:ptCount val="3"/>
                <c:pt idx="0">
                  <c:v>9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C1-48B0-BA07-CFBA65FC3E51}"/>
            </c:ext>
          </c:extLst>
        </c:ser>
        <c:ser>
          <c:idx val="1"/>
          <c:order val="1"/>
          <c:tx>
            <c:strRef>
              <c:f>'Sheet1 (2)'!$C$2</c:f>
              <c:strCache>
                <c:ptCount val="1"/>
                <c:pt idx="0">
                  <c:v>ปี 2567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'Sheet1 (2)'!$A$3:$A$5</c:f>
              <c:strCache>
                <c:ptCount val="3"/>
                <c:pt idx="0">
                  <c:v>ถนนสายหลัก (ทล.226)</c:v>
                </c:pt>
                <c:pt idx="1">
                  <c:v>ถนนในหมู่บ้าน</c:v>
                </c:pt>
                <c:pt idx="2">
                  <c:v>บริเวณเกษตรกรรม</c:v>
                </c:pt>
              </c:strCache>
            </c:strRef>
          </c:cat>
          <c:val>
            <c:numRef>
              <c:f>'Sheet1 (2)'!$C$3:$C$5</c:f>
              <c:numCache>
                <c:formatCode>General</c:formatCode>
                <c:ptCount val="3"/>
                <c:pt idx="0">
                  <c:v>12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C1-48B0-BA07-CFBA65FC3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575085248"/>
        <c:axId val="1488131072"/>
      </c:barChart>
      <c:catAx>
        <c:axId val="1575085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488131072"/>
        <c:crosses val="autoZero"/>
        <c:auto val="1"/>
        <c:lblAlgn val="ctr"/>
        <c:lblOffset val="100"/>
        <c:noMultiLvlLbl val="0"/>
      </c:catAx>
      <c:valAx>
        <c:axId val="148813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575085248"/>
        <c:crosses val="autoZero"/>
        <c:crossBetween val="between"/>
      </c:valAx>
      <c:spPr>
        <a:pattFill prst="ltDnDiag">
          <a:fgClr>
            <a:srgbClr val="000000">
              <a:alpha val="0"/>
            </a:srgbClr>
          </a:fgClr>
          <a:bgClr>
            <a:srgbClr val="FFFFFF"/>
          </a:bgClr>
        </a:pattFill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th-TH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cap="all" baseline="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pPr>
            <a:r>
              <a:rPr lang="th-TH" sz="2000">
                <a:solidFill>
                  <a:srgbClr val="000099"/>
                </a:solidFill>
              </a:rPr>
              <a:t>สัดส่วนสถานที่เกิดเหตุ(2567)</a:t>
            </a:r>
          </a:p>
        </c:rich>
      </c:tx>
      <c:layout>
        <c:manualLayout>
          <c:xMode val="edge"/>
          <c:yMode val="edge"/>
          <c:x val="0.46916666666666668"/>
          <c:y val="9.72222222222222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cap="all" baseline="0">
              <a:solidFill>
                <a:srgbClr val="000099"/>
              </a:solidFill>
              <a:latin typeface="+mn-lt"/>
              <a:ea typeface="+mn-ea"/>
              <a:cs typeface="+mn-cs"/>
            </a:defRPr>
          </a:pPr>
          <a:endParaRPr lang="th-TH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'Sheet1 (2)'!$D$8</c:f>
              <c:strCache>
                <c:ptCount val="1"/>
                <c:pt idx="0">
                  <c:v>สัดส่วน(2567)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88D8-41D2-B11B-50E1FD28E68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88D8-41D2-B11B-50E1FD28E688}"/>
              </c:ext>
            </c:extLst>
          </c:dPt>
          <c:dPt>
            <c:idx val="2"/>
            <c:bubble3D val="0"/>
            <c:spPr>
              <a:solidFill>
                <a:srgbClr val="0066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88D8-41D2-B11B-50E1FD28E68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88D8-41D2-B11B-50E1FD28E68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88D8-41D2-B11B-50E1FD28E688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88D8-41D2-B11B-50E1FD28E6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th-TH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 (2)'!$A$9:$A$11</c:f>
              <c:strCache>
                <c:ptCount val="3"/>
                <c:pt idx="0">
                  <c:v>ถนนสายหลัก (ทล.226)</c:v>
                </c:pt>
                <c:pt idx="1">
                  <c:v>ถนนในหมู่บ้าน</c:v>
                </c:pt>
                <c:pt idx="2">
                  <c:v>บริเวณเกษตรกรรม</c:v>
                </c:pt>
              </c:strCache>
            </c:strRef>
          </c:cat>
          <c:val>
            <c:numRef>
              <c:f>'Sheet1 (2)'!$D$9:$D$11</c:f>
              <c:numCache>
                <c:formatCode>0.0%</c:formatCode>
                <c:ptCount val="3"/>
                <c:pt idx="0">
                  <c:v>0.57099999999999995</c:v>
                </c:pt>
                <c:pt idx="1">
                  <c:v>0.28599999999999998</c:v>
                </c:pt>
                <c:pt idx="2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D8-41D2-B11B-50E1FD28E688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h-TH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904" cy="34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5674500" y="0"/>
            <a:ext cx="4341904" cy="34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2BCA9-CBA4-42FC-B055-8F42644B81C1}" type="datetimeFigureOut">
              <a:rPr lang="th-TH" smtClean="0"/>
              <a:t>24/06/68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2263" cy="2324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1002334" y="3313981"/>
            <a:ext cx="8014047" cy="271163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6541755"/>
            <a:ext cx="4341904" cy="34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5674500" y="6541755"/>
            <a:ext cx="4341904" cy="34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F2ADC-8A0C-4543-86EB-883CC2DAC39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051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6" y="8400322"/>
            <a:ext cx="17558602" cy="117082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163" y="111466"/>
            <a:ext cx="874381" cy="76658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150774" cy="111309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8141" y="183055"/>
            <a:ext cx="2077824" cy="70883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90321" y="9703225"/>
            <a:ext cx="524719" cy="53349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02998" y="9693019"/>
            <a:ext cx="533495" cy="5334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32995" y="9696309"/>
            <a:ext cx="1051486" cy="53561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73284" y="9654695"/>
            <a:ext cx="638460" cy="62979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182843" y="9716622"/>
            <a:ext cx="388509" cy="48186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625119" y="9698746"/>
            <a:ext cx="520517" cy="52051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109929" y="9674328"/>
            <a:ext cx="520517" cy="52051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629514" y="9709145"/>
            <a:ext cx="472630" cy="4726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663287" y="9735091"/>
            <a:ext cx="436244" cy="43135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175739" y="9852465"/>
            <a:ext cx="411234" cy="21020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55602" y="1514466"/>
            <a:ext cx="219075" cy="2190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13" Type="http://schemas.openxmlformats.org/officeDocument/2006/relationships/image" Target="../media/image7.png"/><Relationship Id="rId18" Type="http://schemas.openxmlformats.org/officeDocument/2006/relationships/image" Target="../media/image1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jpg"/><Relationship Id="rId17" Type="http://schemas.openxmlformats.org/officeDocument/2006/relationships/image" Target="../media/image11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jpg"/><Relationship Id="rId19" Type="http://schemas.openxmlformats.org/officeDocument/2006/relationships/image" Target="../media/image13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26" y="8400322"/>
            <a:ext cx="17558602" cy="117082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163" y="111466"/>
            <a:ext cx="874381" cy="76658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150774" cy="111309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38141" y="183055"/>
            <a:ext cx="2077824" cy="70883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390321" y="9703225"/>
            <a:ext cx="524719" cy="53349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902998" y="9693019"/>
            <a:ext cx="533495" cy="5334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32995" y="9696309"/>
            <a:ext cx="1051486" cy="53561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73284" y="9654695"/>
            <a:ext cx="638460" cy="62979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182843" y="9716622"/>
            <a:ext cx="388509" cy="48186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625119" y="9698746"/>
            <a:ext cx="520517" cy="52051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109929" y="9674328"/>
            <a:ext cx="520517" cy="52051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629514" y="9709145"/>
            <a:ext cx="472630" cy="4726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663287" y="9735091"/>
            <a:ext cx="436244" cy="43135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175739" y="9852465"/>
            <a:ext cx="411234" cy="210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4822" y="1683571"/>
            <a:ext cx="10220960" cy="92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18369" y="4230534"/>
            <a:ext cx="7365365" cy="4046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5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g"/><Relationship Id="rId11" Type="http://schemas.openxmlformats.org/officeDocument/2006/relationships/image" Target="../media/image24.png"/><Relationship Id="rId5" Type="http://schemas.openxmlformats.org/officeDocument/2006/relationships/image" Target="../media/image19.jpg"/><Relationship Id="rId15" Type="http://schemas.openxmlformats.org/officeDocument/2006/relationships/image" Target="../media/image28.jpg"/><Relationship Id="rId10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23.jpg"/><Relationship Id="rId14" Type="http://schemas.openxmlformats.org/officeDocument/2006/relationships/image" Target="../media/image2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jpeg"/><Relationship Id="rId18" Type="http://schemas.openxmlformats.org/officeDocument/2006/relationships/image" Target="../media/image45.jpeg"/><Relationship Id="rId3" Type="http://schemas.openxmlformats.org/officeDocument/2006/relationships/image" Target="../media/image30.jpeg"/><Relationship Id="rId21" Type="http://schemas.openxmlformats.org/officeDocument/2006/relationships/image" Target="../media/image48.png"/><Relationship Id="rId7" Type="http://schemas.openxmlformats.org/officeDocument/2006/relationships/image" Target="../media/image34.jpeg"/><Relationship Id="rId12" Type="http://schemas.openxmlformats.org/officeDocument/2006/relationships/image" Target="../media/image39.jpeg"/><Relationship Id="rId17" Type="http://schemas.openxmlformats.org/officeDocument/2006/relationships/image" Target="../media/image44.sv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jpeg"/><Relationship Id="rId11" Type="http://schemas.openxmlformats.org/officeDocument/2006/relationships/image" Target="../media/image38.png"/><Relationship Id="rId5" Type="http://schemas.openxmlformats.org/officeDocument/2006/relationships/image" Target="../media/image32.jpeg"/><Relationship Id="rId15" Type="http://schemas.openxmlformats.org/officeDocument/2006/relationships/image" Target="../media/image42.jpe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jpeg"/><Relationship Id="rId14" Type="http://schemas.openxmlformats.org/officeDocument/2006/relationships/image" Target="../media/image41.jpeg"/><Relationship Id="rId22" Type="http://schemas.openxmlformats.org/officeDocument/2006/relationships/image" Target="../media/image4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67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jpg"/><Relationship Id="rId11" Type="http://schemas.openxmlformats.org/officeDocument/2006/relationships/image" Target="../media/image10.png"/><Relationship Id="rId5" Type="http://schemas.openxmlformats.org/officeDocument/2006/relationships/image" Target="../media/image68.jpg"/><Relationship Id="rId15" Type="http://schemas.openxmlformats.org/officeDocument/2006/relationships/image" Target="../media/image71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70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g"/><Relationship Id="rId13" Type="http://schemas.openxmlformats.org/officeDocument/2006/relationships/image" Target="../media/image10.png"/><Relationship Id="rId18" Type="http://schemas.openxmlformats.org/officeDocument/2006/relationships/image" Target="../media/image63.png"/><Relationship Id="rId3" Type="http://schemas.microsoft.com/office/2007/relationships/hdphoto" Target="../media/hdphoto1.wdp"/><Relationship Id="rId7" Type="http://schemas.openxmlformats.org/officeDocument/2006/relationships/image" Target="../media/image68.jpg"/><Relationship Id="rId12" Type="http://schemas.openxmlformats.org/officeDocument/2006/relationships/image" Target="../media/image9.png"/><Relationship Id="rId17" Type="http://schemas.openxmlformats.org/officeDocument/2006/relationships/image" Target="../media/image71.jpg"/><Relationship Id="rId2" Type="http://schemas.openxmlformats.org/officeDocument/2006/relationships/image" Target="../media/image72.png"/><Relationship Id="rId16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jpg"/><Relationship Id="rId5" Type="http://schemas.openxmlformats.org/officeDocument/2006/relationships/image" Target="../media/image67.jpg"/><Relationship Id="rId15" Type="http://schemas.openxmlformats.org/officeDocument/2006/relationships/image" Target="../media/image12.jp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jpg"/><Relationship Id="rId1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69.jpg"/><Relationship Id="rId12" Type="http://schemas.openxmlformats.org/officeDocument/2006/relationships/image" Target="../media/image10.png"/><Relationship Id="rId17" Type="http://schemas.openxmlformats.org/officeDocument/2006/relationships/image" Target="../media/image63.png"/><Relationship Id="rId2" Type="http://schemas.openxmlformats.org/officeDocument/2006/relationships/image" Target="../media/image73.png"/><Relationship Id="rId16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70.jpg"/><Relationship Id="rId10" Type="http://schemas.openxmlformats.org/officeDocument/2006/relationships/image" Target="../media/image8.jpg"/><Relationship Id="rId4" Type="http://schemas.openxmlformats.org/officeDocument/2006/relationships/image" Target="../media/image67.jp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69.jpg"/><Relationship Id="rId12" Type="http://schemas.openxmlformats.org/officeDocument/2006/relationships/image" Target="../media/image10.png"/><Relationship Id="rId17" Type="http://schemas.openxmlformats.org/officeDocument/2006/relationships/image" Target="../media/image63.png"/><Relationship Id="rId2" Type="http://schemas.openxmlformats.org/officeDocument/2006/relationships/image" Target="../media/image73.png"/><Relationship Id="rId16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70.jpg"/><Relationship Id="rId10" Type="http://schemas.openxmlformats.org/officeDocument/2006/relationships/image" Target="../media/image8.jpg"/><Relationship Id="rId4" Type="http://schemas.openxmlformats.org/officeDocument/2006/relationships/image" Target="../media/image67.jp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0.png"/><Relationship Id="rId17" Type="http://schemas.openxmlformats.org/officeDocument/2006/relationships/image" Target="../media/image75.png"/><Relationship Id="rId2" Type="http://schemas.openxmlformats.org/officeDocument/2006/relationships/image" Target="../media/image74.png"/><Relationship Id="rId16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g"/><Relationship Id="rId13" Type="http://schemas.openxmlformats.org/officeDocument/2006/relationships/image" Target="../media/image27.jpg"/><Relationship Id="rId3" Type="http://schemas.openxmlformats.org/officeDocument/2006/relationships/image" Target="../media/image76.png"/><Relationship Id="rId7" Type="http://schemas.openxmlformats.org/officeDocument/2006/relationships/image" Target="../media/image22.png"/><Relationship Id="rId12" Type="http://schemas.openxmlformats.org/officeDocument/2006/relationships/image" Target="../media/image26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11" Type="http://schemas.openxmlformats.org/officeDocument/2006/relationships/image" Target="../media/image25.jpg"/><Relationship Id="rId5" Type="http://schemas.openxmlformats.org/officeDocument/2006/relationships/image" Target="../media/image20.jpg"/><Relationship Id="rId10" Type="http://schemas.openxmlformats.org/officeDocument/2006/relationships/image" Target="../media/image24.png"/><Relationship Id="rId4" Type="http://schemas.openxmlformats.org/officeDocument/2006/relationships/image" Target="../media/image68.jpg"/><Relationship Id="rId9" Type="http://schemas.openxmlformats.org/officeDocument/2006/relationships/image" Target="../media/image9.png"/><Relationship Id="rId1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รูปภาพ 5" descr="รูปภาพประกอบด้วย สีแดงเลือดนก, สัญลักษณ์, สีแดง&#10;&#10;คำอธิบายที่สร้างโดยอัตโนมัติ">
            <a:extLst>
              <a:ext uri="{FF2B5EF4-FFF2-40B4-BE49-F238E27FC236}">
                <a16:creationId xmlns:a16="http://schemas.microsoft.com/office/drawing/2014/main" id="{05137D82-E5C5-D469-1204-62F464D08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11" y="4391025"/>
            <a:ext cx="12098089" cy="562927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-158" y="-34473"/>
            <a:ext cx="18288000" cy="1337310"/>
            <a:chOff x="0" y="8949942"/>
            <a:chExt cx="18288000" cy="1337310"/>
          </a:xfrm>
        </p:grpSpPr>
        <p:sp>
          <p:nvSpPr>
            <p:cNvPr id="11" name="object 11"/>
            <p:cNvSpPr/>
            <p:nvPr/>
          </p:nvSpPr>
          <p:spPr>
            <a:xfrm>
              <a:off x="0" y="8967025"/>
              <a:ext cx="18288000" cy="1320165"/>
            </a:xfrm>
            <a:custGeom>
              <a:avLst/>
              <a:gdLst/>
              <a:ahLst/>
              <a:cxnLst/>
              <a:rect l="l" t="t" r="r" b="b"/>
              <a:pathLst>
                <a:path w="18288000" h="1320165">
                  <a:moveTo>
                    <a:pt x="18287998" y="1319974"/>
                  </a:moveTo>
                  <a:lnTo>
                    <a:pt x="0" y="1319974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1319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1131" y="9031356"/>
              <a:ext cx="1195101" cy="10753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7553" y="8949942"/>
              <a:ext cx="2060722" cy="13370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6826" y="9005312"/>
              <a:ext cx="2845498" cy="12816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046" y="9111682"/>
              <a:ext cx="2082736" cy="10956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71691" y="9090723"/>
              <a:ext cx="1095613" cy="109561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0070" y="9097478"/>
              <a:ext cx="2159271" cy="10999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96361" y="9012022"/>
              <a:ext cx="1311116" cy="12749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09104" y="9175413"/>
              <a:ext cx="847135" cy="105079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53951" y="9136434"/>
              <a:ext cx="1134977" cy="113497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30595" y="9083191"/>
              <a:ext cx="1134977" cy="11349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383059" y="9159111"/>
              <a:ext cx="1030577" cy="103057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17655" y="9215685"/>
              <a:ext cx="951261" cy="9726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711351" y="9471616"/>
              <a:ext cx="950705" cy="458342"/>
            </a:xfrm>
            <a:prstGeom prst="rect">
              <a:avLst/>
            </a:prstGeom>
          </p:spPr>
        </p:pic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257DC1A8-4511-5F72-5D53-6365F4090038}"/>
              </a:ext>
            </a:extLst>
          </p:cNvPr>
          <p:cNvSpPr txBox="1">
            <a:spLocks/>
          </p:cNvSpPr>
          <p:nvPr/>
        </p:nvSpPr>
        <p:spPr>
          <a:xfrm>
            <a:off x="990442" y="2723764"/>
            <a:ext cx="16306800" cy="17339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4000" b="1" dirty="0">
                <a:solidFill>
                  <a:srgbClr val="003399"/>
                </a:solidFill>
                <a:effectLst/>
                <a:ea typeface="Tahoma" panose="020B0604030504040204" pitchFamily="34" charset="0"/>
                <a:cs typeface="Tahoma" panose="020B0604030504040204" pitchFamily="34" charset="0"/>
              </a:rPr>
              <a:t>โครงการ</a:t>
            </a:r>
            <a:r>
              <a:rPr lang="th-TH" sz="4000" b="1" spc="-30" dirty="0">
                <a:solidFill>
                  <a:srgbClr val="003399"/>
                </a:solidFill>
                <a:effectLst/>
                <a:ea typeface="Tahoma" panose="020B0604030504040204" pitchFamily="34" charset="0"/>
                <a:cs typeface="Tahoma" panose="020B0604030504040204" pitchFamily="34" charset="0"/>
              </a:rPr>
              <a:t>เสริมสร้างศูนย์ปฏิบัติการความปลอดภัยทางถนนตำบลโพนเขวา เพื่อลดอุบัติเหตุทางถนนอย่างยั่งยืน</a:t>
            </a:r>
            <a:endParaRPr lang="th-TH" sz="4000" b="1" dirty="0">
              <a:solidFill>
                <a:srgbClr val="003399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26" y="8400322"/>
            <a:ext cx="17558602" cy="1170827"/>
            <a:chOff x="0" y="0"/>
            <a:chExt cx="23411469" cy="1561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11435" cy="1561084"/>
            </a:xfrm>
            <a:custGeom>
              <a:avLst/>
              <a:gdLst/>
              <a:ahLst/>
              <a:cxnLst/>
              <a:rect l="l" t="t" r="r" b="b"/>
              <a:pathLst>
                <a:path w="23411435" h="1561084">
                  <a:moveTo>
                    <a:pt x="0" y="0"/>
                  </a:moveTo>
                  <a:lnTo>
                    <a:pt x="23411435" y="0"/>
                  </a:lnTo>
                  <a:lnTo>
                    <a:pt x="23411435" y="1561084"/>
                  </a:lnTo>
                  <a:lnTo>
                    <a:pt x="0" y="156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31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22163" y="111466"/>
            <a:ext cx="874381" cy="766584"/>
            <a:chOff x="0" y="0"/>
            <a:chExt cx="1165841" cy="10221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860" cy="1022096"/>
            </a:xfrm>
            <a:custGeom>
              <a:avLst/>
              <a:gdLst/>
              <a:ahLst/>
              <a:cxnLst/>
              <a:rect l="l" t="t" r="r" b="b"/>
              <a:pathLst>
                <a:path w="1165860" h="1022096">
                  <a:moveTo>
                    <a:pt x="0" y="0"/>
                  </a:moveTo>
                  <a:lnTo>
                    <a:pt x="1165860" y="0"/>
                  </a:lnTo>
                  <a:lnTo>
                    <a:pt x="1165860" y="1022096"/>
                  </a:lnTo>
                  <a:lnTo>
                    <a:pt x="0" y="1022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5" r="1" b="-217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150774" cy="1113091"/>
            <a:chOff x="0" y="0"/>
            <a:chExt cx="1534365" cy="14841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4414" cy="1484122"/>
            </a:xfrm>
            <a:custGeom>
              <a:avLst/>
              <a:gdLst/>
              <a:ahLst/>
              <a:cxnLst/>
              <a:rect l="l" t="t" r="r" b="b"/>
              <a:pathLst>
                <a:path w="1534414" h="1484122">
                  <a:moveTo>
                    <a:pt x="0" y="0"/>
                  </a:moveTo>
                  <a:lnTo>
                    <a:pt x="1534414" y="0"/>
                  </a:lnTo>
                  <a:lnTo>
                    <a:pt x="1534414" y="1484122"/>
                  </a:lnTo>
                  <a:lnTo>
                    <a:pt x="0" y="148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13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638141" y="183055"/>
            <a:ext cx="2077824" cy="708839"/>
            <a:chOff x="0" y="0"/>
            <a:chExt cx="2770432" cy="9451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0378" cy="945134"/>
            </a:xfrm>
            <a:custGeom>
              <a:avLst/>
              <a:gdLst/>
              <a:ahLst/>
              <a:cxnLst/>
              <a:rect l="l" t="t" r="r" b="b"/>
              <a:pathLst>
                <a:path w="2770378" h="945134">
                  <a:moveTo>
                    <a:pt x="0" y="0"/>
                  </a:moveTo>
                  <a:lnTo>
                    <a:pt x="2770378" y="0"/>
                  </a:lnTo>
                  <a:lnTo>
                    <a:pt x="2770378" y="945134"/>
                  </a:lnTo>
                  <a:lnTo>
                    <a:pt x="0" y="945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" r="-1" b="-36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390321" y="9703225"/>
            <a:ext cx="524719" cy="533495"/>
            <a:chOff x="0" y="0"/>
            <a:chExt cx="699625" cy="7113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643" cy="711327"/>
            </a:xfrm>
            <a:custGeom>
              <a:avLst/>
              <a:gdLst/>
              <a:ahLst/>
              <a:cxnLst/>
              <a:rect l="l" t="t" r="r" b="b"/>
              <a:pathLst>
                <a:path w="699643" h="711327">
                  <a:moveTo>
                    <a:pt x="0" y="0"/>
                  </a:moveTo>
                  <a:lnTo>
                    <a:pt x="699643" y="0"/>
                  </a:lnTo>
                  <a:lnTo>
                    <a:pt x="699643" y="711327"/>
                  </a:lnTo>
                  <a:lnTo>
                    <a:pt x="0" y="711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7" r="2" b="-167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902998" y="9693019"/>
            <a:ext cx="533495" cy="533495"/>
            <a:chOff x="0" y="0"/>
            <a:chExt cx="711327" cy="7113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1327" cy="711327"/>
            </a:xfrm>
            <a:custGeom>
              <a:avLst/>
              <a:gdLst/>
              <a:ahLst/>
              <a:cxnLst/>
              <a:rect l="l" t="t" r="r" b="b"/>
              <a:pathLst>
                <a:path w="711327" h="711327">
                  <a:moveTo>
                    <a:pt x="0" y="0"/>
                  </a:moveTo>
                  <a:lnTo>
                    <a:pt x="711327" y="0"/>
                  </a:lnTo>
                  <a:lnTo>
                    <a:pt x="711327" y="711327"/>
                  </a:lnTo>
                  <a:lnTo>
                    <a:pt x="0" y="711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432995" y="9696309"/>
            <a:ext cx="1051486" cy="535611"/>
            <a:chOff x="0" y="0"/>
            <a:chExt cx="1401981" cy="7141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01953" cy="714121"/>
            </a:xfrm>
            <a:custGeom>
              <a:avLst/>
              <a:gdLst/>
              <a:ahLst/>
              <a:cxnLst/>
              <a:rect l="l" t="t" r="r" b="b"/>
              <a:pathLst>
                <a:path w="1401953" h="714121">
                  <a:moveTo>
                    <a:pt x="0" y="0"/>
                  </a:moveTo>
                  <a:lnTo>
                    <a:pt x="1401953" y="0"/>
                  </a:lnTo>
                  <a:lnTo>
                    <a:pt x="1401953" y="714121"/>
                  </a:lnTo>
                  <a:lnTo>
                    <a:pt x="0" y="714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" r="-4" b="-3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473284" y="9654695"/>
            <a:ext cx="638460" cy="629792"/>
            <a:chOff x="0" y="0"/>
            <a:chExt cx="851280" cy="8397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1281" cy="839724"/>
            </a:xfrm>
            <a:custGeom>
              <a:avLst/>
              <a:gdLst/>
              <a:ahLst/>
              <a:cxnLst/>
              <a:rect l="l" t="t" r="r" b="b"/>
              <a:pathLst>
                <a:path w="851281" h="839724">
                  <a:moveTo>
                    <a:pt x="0" y="0"/>
                  </a:moveTo>
                  <a:lnTo>
                    <a:pt x="851281" y="0"/>
                  </a:lnTo>
                  <a:lnTo>
                    <a:pt x="851281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24" b="-124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5182843" y="9716622"/>
            <a:ext cx="388509" cy="481869"/>
            <a:chOff x="0" y="0"/>
            <a:chExt cx="518012" cy="6424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8033" cy="642493"/>
            </a:xfrm>
            <a:custGeom>
              <a:avLst/>
              <a:gdLst/>
              <a:ahLst/>
              <a:cxnLst/>
              <a:rect l="l" t="t" r="r" b="b"/>
              <a:pathLst>
                <a:path w="518033" h="642493">
                  <a:moveTo>
                    <a:pt x="0" y="0"/>
                  </a:moveTo>
                  <a:lnTo>
                    <a:pt x="518033" y="0"/>
                  </a:lnTo>
                  <a:lnTo>
                    <a:pt x="518033" y="642493"/>
                  </a:lnTo>
                  <a:lnTo>
                    <a:pt x="0" y="642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9" r="-85"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6625119" y="9698746"/>
            <a:ext cx="520517" cy="520517"/>
            <a:chOff x="0" y="0"/>
            <a:chExt cx="694023" cy="6940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4055" cy="694055"/>
            </a:xfrm>
            <a:custGeom>
              <a:avLst/>
              <a:gdLst/>
              <a:ahLst/>
              <a:cxnLst/>
              <a:rect l="l" t="t" r="r" b="b"/>
              <a:pathLst>
                <a:path w="694055" h="694055">
                  <a:moveTo>
                    <a:pt x="0" y="0"/>
                  </a:moveTo>
                  <a:lnTo>
                    <a:pt x="694055" y="0"/>
                  </a:lnTo>
                  <a:lnTo>
                    <a:pt x="694055" y="694055"/>
                  </a:lnTo>
                  <a:lnTo>
                    <a:pt x="0" y="694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4" b="4"/>
              </a:stretch>
            </a:blip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6109929" y="9674328"/>
            <a:ext cx="520517" cy="520517"/>
            <a:chOff x="0" y="0"/>
            <a:chExt cx="694023" cy="6940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4055" cy="694055"/>
            </a:xfrm>
            <a:custGeom>
              <a:avLst/>
              <a:gdLst/>
              <a:ahLst/>
              <a:cxnLst/>
              <a:rect l="l" t="t" r="r" b="b"/>
              <a:pathLst>
                <a:path w="694055" h="694055">
                  <a:moveTo>
                    <a:pt x="0" y="0"/>
                  </a:moveTo>
                  <a:lnTo>
                    <a:pt x="694055" y="0"/>
                  </a:lnTo>
                  <a:lnTo>
                    <a:pt x="694055" y="694055"/>
                  </a:lnTo>
                  <a:lnTo>
                    <a:pt x="0" y="694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4" b="4"/>
              </a:stretch>
            </a:blip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5629514" y="9709145"/>
            <a:ext cx="472630" cy="472630"/>
            <a:chOff x="0" y="0"/>
            <a:chExt cx="630173" cy="6301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0174" cy="630174"/>
            </a:xfrm>
            <a:custGeom>
              <a:avLst/>
              <a:gdLst/>
              <a:ahLst/>
              <a:cxnLst/>
              <a:rect l="l" t="t" r="r" b="b"/>
              <a:pathLst>
                <a:path w="630174" h="630174">
                  <a:moveTo>
                    <a:pt x="0" y="0"/>
                  </a:moveTo>
                  <a:lnTo>
                    <a:pt x="630174" y="0"/>
                  </a:lnTo>
                  <a:lnTo>
                    <a:pt x="630174" y="630174"/>
                  </a:lnTo>
                  <a:lnTo>
                    <a:pt x="0" y="63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663287" y="9735091"/>
            <a:ext cx="436244" cy="431350"/>
            <a:chOff x="0" y="0"/>
            <a:chExt cx="581659" cy="5751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1660" cy="575183"/>
            </a:xfrm>
            <a:custGeom>
              <a:avLst/>
              <a:gdLst/>
              <a:ahLst/>
              <a:cxnLst/>
              <a:rect l="l" t="t" r="r" b="b"/>
              <a:pathLst>
                <a:path w="581660" h="575183">
                  <a:moveTo>
                    <a:pt x="0" y="0"/>
                  </a:moveTo>
                  <a:lnTo>
                    <a:pt x="581660" y="0"/>
                  </a:lnTo>
                  <a:lnTo>
                    <a:pt x="581660" y="575183"/>
                  </a:lnTo>
                  <a:lnTo>
                    <a:pt x="0" y="575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b="8"/>
              </a:stretch>
            </a:blip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7175739" y="9852465"/>
            <a:ext cx="411234" cy="210202"/>
            <a:chOff x="0" y="0"/>
            <a:chExt cx="548312" cy="28026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259" cy="280289"/>
            </a:xfrm>
            <a:custGeom>
              <a:avLst/>
              <a:gdLst/>
              <a:ahLst/>
              <a:cxnLst/>
              <a:rect l="l" t="t" r="r" b="b"/>
              <a:pathLst>
                <a:path w="548259" h="280289">
                  <a:moveTo>
                    <a:pt x="0" y="0"/>
                  </a:moveTo>
                  <a:lnTo>
                    <a:pt x="548259" y="0"/>
                  </a:lnTo>
                  <a:lnTo>
                    <a:pt x="548259" y="280289"/>
                  </a:lnTo>
                  <a:lnTo>
                    <a:pt x="0" y="280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677" r="-9" b="-670"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7997878" y="2219714"/>
            <a:ext cx="3975236" cy="3189917"/>
          </a:xfrm>
          <a:custGeom>
            <a:avLst/>
            <a:gdLst/>
            <a:ahLst/>
            <a:cxnLst/>
            <a:rect l="l" t="t" r="r" b="b"/>
            <a:pathLst>
              <a:path w="3169980" h="3189917">
                <a:moveTo>
                  <a:pt x="0" y="0"/>
                </a:moveTo>
                <a:lnTo>
                  <a:pt x="3169980" y="0"/>
                </a:lnTo>
                <a:lnTo>
                  <a:pt x="3169980" y="3189918"/>
                </a:lnTo>
                <a:lnTo>
                  <a:pt x="0" y="31899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64991" y="1940432"/>
            <a:ext cx="4704681" cy="4060371"/>
          </a:xfrm>
          <a:custGeom>
            <a:avLst/>
            <a:gdLst/>
            <a:ahLst/>
            <a:cxnLst/>
            <a:rect l="l" t="t" r="r" b="b"/>
            <a:pathLst>
              <a:path w="4704681" h="4060371">
                <a:moveTo>
                  <a:pt x="0" y="0"/>
                </a:moveTo>
                <a:lnTo>
                  <a:pt x="4704681" y="0"/>
                </a:lnTo>
                <a:lnTo>
                  <a:pt x="4704681" y="4060371"/>
                </a:lnTo>
                <a:lnTo>
                  <a:pt x="0" y="40603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280218" y="1796248"/>
            <a:ext cx="3622780" cy="3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ประชากรทั้งหมด</a:t>
            </a: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 7,535 </a:t>
            </a:r>
            <a:r>
              <a:rPr lang="en-US" sz="2000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คน</a:t>
            </a:r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201399" y="3272105"/>
            <a:ext cx="2231595" cy="345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 </a:t>
            </a: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หญิง</a:t>
            </a: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 3,871 </a:t>
            </a:r>
            <a:r>
              <a:rPr lang="en-US" sz="2000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คน</a:t>
            </a:r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194228" y="3586961"/>
            <a:ext cx="2035792" cy="3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ชาย </a:t>
            </a: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3,664 </a:t>
            </a:r>
            <a:r>
              <a:rPr lang="en-US" sz="2000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คน</a:t>
            </a:r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500011" y="2081704"/>
            <a:ext cx="1217569" cy="3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48.63 %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70995" y="2269471"/>
            <a:ext cx="1708866" cy="3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51.37%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71600" y="1143535"/>
            <a:ext cx="2035792" cy="58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200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พื้นที่</a:t>
            </a:r>
            <a:endParaRPr lang="en-US" sz="32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761366" y="1042125"/>
            <a:ext cx="2035792" cy="58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200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ประชากร</a:t>
            </a:r>
            <a:endParaRPr lang="en-US" sz="32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07269" y="6153876"/>
            <a:ext cx="6753180" cy="341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ทิศเหนือ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จรดกับตำบลลิ้นฟ้า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อำเภอยางชุมน้อย</a:t>
            </a:r>
            <a:endParaRPr lang="en-US" sz="20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26319" y="6559305"/>
            <a:ext cx="6950743" cy="34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ทิศใต้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    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จรดกับตำบลหนองแก้ว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อำเภอเมืองศรีสะเกษ</a:t>
            </a:r>
            <a:endParaRPr lang="en-US" sz="20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99481" y="6991887"/>
            <a:ext cx="6950743" cy="34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ทิศตะวันออก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จรดกับตำบลหนองบัว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อำเภอกันทรารมย์</a:t>
            </a:r>
            <a:endParaRPr lang="en-US" sz="20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26319" y="7405786"/>
            <a:ext cx="6950743" cy="34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ทิศตะวันตก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จรดกับตำบลโพธิ์</a:t>
            </a:r>
            <a:r>
              <a:rPr lang="en-US" sz="20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         </a:t>
            </a:r>
            <a:r>
              <a:rPr lang="en-US" sz="20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อำเภอเมืองศรีสะเกษ</a:t>
            </a:r>
            <a:endParaRPr lang="en-US" sz="20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4592397" y="1852624"/>
            <a:ext cx="3555582" cy="58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2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11 </a:t>
            </a:r>
            <a:r>
              <a:rPr lang="en-US" sz="32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หมู่บ้าน</a:t>
            </a:r>
            <a:endParaRPr lang="en-US" sz="32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3647544" y="2904761"/>
            <a:ext cx="3611756" cy="534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1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บ้านโพนเขวา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2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บ้านโพนเขวา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3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บ้านหนองเข็ง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4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บ้านกอก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5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บ้านเหล่าแค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6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บ้านหนองแวง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7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บ้านหนองแวง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8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บ้านดอนสั้น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9 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บ้านโนนสังข์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10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บ้านโนนเล่ย์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  <a:p>
            <a:pPr algn="l">
              <a:lnSpc>
                <a:spcPts val="3778"/>
              </a:lnSpc>
            </a:pP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หมู่</a:t>
            </a:r>
            <a:r>
              <a:rPr lang="en-US" sz="280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 11 </a:t>
            </a:r>
            <a:r>
              <a:rPr lang="en-US" sz="2800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"/>
              </a:rPr>
              <a:t>บ้านหนองเข็งคำ</a:t>
            </a:r>
            <a:endParaRPr lang="en-US" sz="2800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13792259" y="1771702"/>
            <a:ext cx="1422025" cy="849660"/>
          </a:xfrm>
          <a:custGeom>
            <a:avLst/>
            <a:gdLst/>
            <a:ahLst/>
            <a:cxnLst/>
            <a:rect l="l" t="t" r="r" b="b"/>
            <a:pathLst>
              <a:path w="1422025" h="849660">
                <a:moveTo>
                  <a:pt x="0" y="0"/>
                </a:moveTo>
                <a:lnTo>
                  <a:pt x="1422025" y="0"/>
                </a:lnTo>
                <a:lnTo>
                  <a:pt x="1422025" y="849660"/>
                </a:lnTo>
                <a:lnTo>
                  <a:pt x="0" y="8496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3703718" y="986819"/>
            <a:ext cx="3555582" cy="58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200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เขตการปกครอง</a:t>
            </a:r>
            <a:endParaRPr lang="en-US" sz="32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pic>
        <p:nvPicPr>
          <p:cNvPr id="49" name="รูปภาพ 48" descr="รูปภาพประกอบด้วย การ์ตูน, การวาดภาพ, ภาพตัดปะ, ภาพประกอบ&#10;&#10;คำอธิบายที่สร้างโดยอัตโนมัติ">
            <a:extLst>
              <a:ext uri="{FF2B5EF4-FFF2-40B4-BE49-F238E27FC236}">
                <a16:creationId xmlns:a16="http://schemas.microsoft.com/office/drawing/2014/main" id="{AEB245AB-960B-0308-D804-93F1017A6B2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872" y="5524500"/>
            <a:ext cx="1758128" cy="1758128"/>
          </a:xfrm>
          <a:prstGeom prst="rect">
            <a:avLst/>
          </a:prstGeom>
        </p:spPr>
      </p:pic>
      <p:sp>
        <p:nvSpPr>
          <p:cNvPr id="50" name="TextBox 38">
            <a:extLst>
              <a:ext uri="{FF2B5EF4-FFF2-40B4-BE49-F238E27FC236}">
                <a16:creationId xmlns:a16="http://schemas.microsoft.com/office/drawing/2014/main" id="{EFFF379F-621A-3886-9E39-F3E13E9A7029}"/>
              </a:ext>
            </a:extLst>
          </p:cNvPr>
          <p:cNvSpPr txBox="1"/>
          <p:nvPr/>
        </p:nvSpPr>
        <p:spPr>
          <a:xfrm>
            <a:off x="9723868" y="5422199"/>
            <a:ext cx="2550142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8"/>
              </a:lnSpc>
            </a:pPr>
            <a:r>
              <a:rPr lang="th-TH" sz="32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การคมนาคม</a:t>
            </a:r>
            <a:endParaRPr lang="en-US" sz="32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51" name="TextBox 38">
            <a:extLst>
              <a:ext uri="{FF2B5EF4-FFF2-40B4-BE49-F238E27FC236}">
                <a16:creationId xmlns:a16="http://schemas.microsoft.com/office/drawing/2014/main" id="{A0A67AE0-3CAE-2421-D116-C23F864C5228}"/>
              </a:ext>
            </a:extLst>
          </p:cNvPr>
          <p:cNvSpPr txBox="1"/>
          <p:nvPr/>
        </p:nvSpPr>
        <p:spPr>
          <a:xfrm>
            <a:off x="4267200" y="222275"/>
            <a:ext cx="11614039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8"/>
              </a:lnSpc>
            </a:pPr>
            <a:r>
              <a:rPr lang="th-TH" sz="48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สภาพทั่วไปของพื้นที่ตำบลโพนเขวา</a:t>
            </a:r>
            <a:endParaRPr lang="en-US" sz="48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  <p:sp>
        <p:nvSpPr>
          <p:cNvPr id="52" name="TextBox 32">
            <a:extLst>
              <a:ext uri="{FF2B5EF4-FFF2-40B4-BE49-F238E27FC236}">
                <a16:creationId xmlns:a16="http://schemas.microsoft.com/office/drawing/2014/main" id="{4CE3A1F8-9347-664D-065B-CB8361DA2576}"/>
              </a:ext>
            </a:extLst>
          </p:cNvPr>
          <p:cNvSpPr txBox="1"/>
          <p:nvPr/>
        </p:nvSpPr>
        <p:spPr>
          <a:xfrm>
            <a:off x="9187549" y="6210300"/>
            <a:ext cx="3622780" cy="725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ทางรถยนต์</a:t>
            </a:r>
          </a:p>
          <a:p>
            <a:pPr algn="ctr">
              <a:lnSpc>
                <a:spcPts val="3038"/>
              </a:lnSpc>
            </a:pP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มีถนนทางหลวงหมายเลข </a:t>
            </a:r>
            <a:r>
              <a:rPr lang="en-US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226</a:t>
            </a:r>
          </a:p>
        </p:txBody>
      </p:sp>
      <p:pic>
        <p:nvPicPr>
          <p:cNvPr id="54" name="รูปภาพ 53" descr="รูปภาพประกอบด้วย ขนส่ง, พาหนะ, ยานพาหนะทางบก, การขนส่งสาธารณะ&#10;&#10;คำอธิบายที่สร้างโดยอัตโนมัติ">
            <a:extLst>
              <a:ext uri="{FF2B5EF4-FFF2-40B4-BE49-F238E27FC236}">
                <a16:creationId xmlns:a16="http://schemas.microsoft.com/office/drawing/2014/main" id="{5119442F-C311-0033-8431-846116A537D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875" y="6914243"/>
            <a:ext cx="2143125" cy="1429657"/>
          </a:xfrm>
          <a:prstGeom prst="rect">
            <a:avLst/>
          </a:prstGeom>
        </p:spPr>
      </p:pic>
      <p:sp>
        <p:nvSpPr>
          <p:cNvPr id="55" name="TextBox 32">
            <a:extLst>
              <a:ext uri="{FF2B5EF4-FFF2-40B4-BE49-F238E27FC236}">
                <a16:creationId xmlns:a16="http://schemas.microsoft.com/office/drawing/2014/main" id="{1FE1B1C8-D5B8-BA90-9353-56B0D4814E08}"/>
              </a:ext>
            </a:extLst>
          </p:cNvPr>
          <p:cNvSpPr txBox="1"/>
          <p:nvPr/>
        </p:nvSpPr>
        <p:spPr>
          <a:xfrm>
            <a:off x="7510662" y="7362860"/>
            <a:ext cx="3622780" cy="725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ทางรถไฟ</a:t>
            </a:r>
          </a:p>
          <a:p>
            <a:pPr algn="ctr">
              <a:lnSpc>
                <a:spcPts val="3038"/>
              </a:lnSpc>
            </a:pPr>
            <a:r>
              <a:rPr lang="th-TH" sz="20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ridi Bold"/>
              </a:rPr>
              <a:t>มีสถานีรถไฟบ้านหนองแวง</a:t>
            </a:r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ridi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52">
            <a:extLst>
              <a:ext uri="{FF2B5EF4-FFF2-40B4-BE49-F238E27FC236}">
                <a16:creationId xmlns:a16="http://schemas.microsoft.com/office/drawing/2014/main" id="{43590F50-A712-8BBF-FF5F-8DD615AA0FBC}"/>
              </a:ext>
            </a:extLst>
          </p:cNvPr>
          <p:cNvGrpSpPr/>
          <p:nvPr/>
        </p:nvGrpSpPr>
        <p:grpSpPr>
          <a:xfrm>
            <a:off x="193667" y="2268437"/>
            <a:ext cx="11998333" cy="5750125"/>
            <a:chOff x="922969" y="1648732"/>
            <a:chExt cx="9420070" cy="4360182"/>
          </a:xfrm>
        </p:grpSpPr>
        <p:grpSp>
          <p:nvGrpSpPr>
            <p:cNvPr id="16" name="Group 47">
              <a:extLst>
                <a:ext uri="{FF2B5EF4-FFF2-40B4-BE49-F238E27FC236}">
                  <a16:creationId xmlns:a16="http://schemas.microsoft.com/office/drawing/2014/main" id="{AFD78919-F664-7403-27C6-471F27D0B759}"/>
                </a:ext>
              </a:extLst>
            </p:cNvPr>
            <p:cNvGrpSpPr/>
            <p:nvPr/>
          </p:nvGrpSpPr>
          <p:grpSpPr>
            <a:xfrm>
              <a:off x="922969" y="1648732"/>
              <a:ext cx="9420070" cy="4360182"/>
              <a:chOff x="784179" y="1387475"/>
              <a:chExt cx="6897597" cy="3192628"/>
            </a:xfrm>
          </p:grpSpPr>
          <p:grpSp>
            <p:nvGrpSpPr>
              <p:cNvPr id="21" name="Google Shape;281;p19">
                <a:extLst>
                  <a:ext uri="{FF2B5EF4-FFF2-40B4-BE49-F238E27FC236}">
                    <a16:creationId xmlns:a16="http://schemas.microsoft.com/office/drawing/2014/main" id="{49217707-8E37-E9EC-14A3-CD6707601A46}"/>
                  </a:ext>
                </a:extLst>
              </p:cNvPr>
              <p:cNvGrpSpPr/>
              <p:nvPr/>
            </p:nvGrpSpPr>
            <p:grpSpPr>
              <a:xfrm>
                <a:off x="784180" y="1387475"/>
                <a:ext cx="6595333" cy="800534"/>
                <a:chOff x="784180" y="1387475"/>
                <a:chExt cx="6595333" cy="800534"/>
              </a:xfrm>
            </p:grpSpPr>
            <p:grpSp>
              <p:nvGrpSpPr>
                <p:cNvPr id="55" name="Google Shape;282;p19">
                  <a:extLst>
                    <a:ext uri="{FF2B5EF4-FFF2-40B4-BE49-F238E27FC236}">
                      <a16:creationId xmlns:a16="http://schemas.microsoft.com/office/drawing/2014/main" id="{41698545-1C59-09C0-A40B-DE00F4D177F1}"/>
                    </a:ext>
                  </a:extLst>
                </p:cNvPr>
                <p:cNvGrpSpPr/>
                <p:nvPr/>
              </p:nvGrpSpPr>
              <p:grpSpPr>
                <a:xfrm>
                  <a:off x="1462213" y="1387475"/>
                  <a:ext cx="5917300" cy="800534"/>
                  <a:chOff x="1462213" y="1387475"/>
                  <a:chExt cx="5917300" cy="800534"/>
                </a:xfrm>
              </p:grpSpPr>
              <p:grpSp>
                <p:nvGrpSpPr>
                  <p:cNvPr id="60" name="Google Shape;283;p19">
                    <a:extLst>
                      <a:ext uri="{FF2B5EF4-FFF2-40B4-BE49-F238E27FC236}">
                        <a16:creationId xmlns:a16="http://schemas.microsoft.com/office/drawing/2014/main" id="{9A061875-D350-9B28-DC2D-07C5DE315101}"/>
                      </a:ext>
                    </a:extLst>
                  </p:cNvPr>
                  <p:cNvGrpSpPr/>
                  <p:nvPr/>
                </p:nvGrpSpPr>
                <p:grpSpPr>
                  <a:xfrm>
                    <a:off x="1462213" y="1387475"/>
                    <a:ext cx="5917300" cy="800534"/>
                    <a:chOff x="1462213" y="1539875"/>
                    <a:chExt cx="5917300" cy="800534"/>
                  </a:xfrm>
                </p:grpSpPr>
                <p:sp>
                  <p:nvSpPr>
                    <p:cNvPr id="63" name="Google Shape;284;p19">
                      <a:extLst>
                        <a:ext uri="{FF2B5EF4-FFF2-40B4-BE49-F238E27FC236}">
                          <a16:creationId xmlns:a16="http://schemas.microsoft.com/office/drawing/2014/main" id="{844AB823-FC4B-8AE1-94B2-A91D87689A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2616" y="1540649"/>
                      <a:ext cx="3646897" cy="7997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646" h="25361" extrusionOk="0">
                          <a:moveTo>
                            <a:pt x="0" y="0"/>
                          </a:moveTo>
                          <a:lnTo>
                            <a:pt x="0" y="25360"/>
                          </a:lnTo>
                          <a:lnTo>
                            <a:pt x="104383" y="25360"/>
                          </a:lnTo>
                          <a:cubicBezTo>
                            <a:pt x="110598" y="25337"/>
                            <a:pt x="115646" y="20300"/>
                            <a:pt x="115646" y="14073"/>
                          </a:cubicBezTo>
                          <a:lnTo>
                            <a:pt x="115646" y="11263"/>
                          </a:lnTo>
                          <a:cubicBezTo>
                            <a:pt x="115646" y="5037"/>
                            <a:pt x="110598" y="0"/>
                            <a:pt x="104383" y="0"/>
                          </a:cubicBezTo>
                          <a:close/>
                        </a:path>
                      </a:pathLst>
                    </a:custGeom>
                    <a:solidFill>
                      <a:srgbClr val="A6B727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4" name="Google Shape;285;p19">
                      <a:extLst>
                        <a:ext uri="{FF2B5EF4-FFF2-40B4-BE49-F238E27FC236}">
                          <a16:creationId xmlns:a16="http://schemas.microsoft.com/office/drawing/2014/main" id="{2D57B21C-59D0-B520-DA6E-710894F482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2213" y="1539875"/>
                      <a:ext cx="2364000" cy="799800"/>
                    </a:xfrm>
                    <a:prstGeom prst="rect">
                      <a:avLst/>
                    </a:prstGeom>
                    <a:solidFill>
                      <a:srgbClr val="A6B727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61" name="Google Shape;286;p19">
                    <a:extLst>
                      <a:ext uri="{FF2B5EF4-FFF2-40B4-BE49-F238E27FC236}">
                        <a16:creationId xmlns:a16="http://schemas.microsoft.com/office/drawing/2014/main" id="{AD11096C-9DD0-5C8E-1FAA-F9AD035A26F1}"/>
                      </a:ext>
                    </a:extLst>
                  </p:cNvPr>
                  <p:cNvSpPr/>
                  <p:nvPr/>
                </p:nvSpPr>
                <p:spPr>
                  <a:xfrm>
                    <a:off x="6658618" y="1471597"/>
                    <a:ext cx="631583" cy="6315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8" h="20027" extrusionOk="0">
                        <a:moveTo>
                          <a:pt x="10014" y="0"/>
                        </a:moveTo>
                        <a:cubicBezTo>
                          <a:pt x="4478" y="0"/>
                          <a:pt x="1" y="4489"/>
                          <a:pt x="1" y="10014"/>
                        </a:cubicBezTo>
                        <a:cubicBezTo>
                          <a:pt x="1" y="15550"/>
                          <a:pt x="4478" y="20027"/>
                          <a:pt x="10014" y="20027"/>
                        </a:cubicBezTo>
                        <a:cubicBezTo>
                          <a:pt x="15550" y="20027"/>
                          <a:pt x="20027" y="15550"/>
                          <a:pt x="20027" y="10014"/>
                        </a:cubicBezTo>
                        <a:cubicBezTo>
                          <a:pt x="20027" y="4489"/>
                          <a:pt x="15550" y="0"/>
                          <a:pt x="100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Google Shape;287;p19">
                    <a:extLst>
                      <a:ext uri="{FF2B5EF4-FFF2-40B4-BE49-F238E27FC236}">
                        <a16:creationId xmlns:a16="http://schemas.microsoft.com/office/drawing/2014/main" id="{F095A365-75D0-7755-BAA5-149B86B81F1A}"/>
                      </a:ext>
                    </a:extLst>
                  </p:cNvPr>
                  <p:cNvSpPr/>
                  <p:nvPr/>
                </p:nvSpPr>
                <p:spPr>
                  <a:xfrm>
                    <a:off x="3007017" y="1505024"/>
                    <a:ext cx="32" cy="565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7919" fill="none" extrusionOk="0">
                        <a:moveTo>
                          <a:pt x="1" y="0"/>
                        </a:moveTo>
                        <a:lnTo>
                          <a:pt x="1" y="17919"/>
                        </a:lnTo>
                      </a:path>
                    </a:pathLst>
                  </a:custGeom>
                  <a:solidFill>
                    <a:srgbClr val="000000"/>
                  </a:solidFill>
                  <a:ln w="19050" cap="rnd" cmpd="sng">
                    <a:solidFill>
                      <a:sysClr val="window" lastClr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Google Shape;291;p19">
                  <a:extLst>
                    <a:ext uri="{FF2B5EF4-FFF2-40B4-BE49-F238E27FC236}">
                      <a16:creationId xmlns:a16="http://schemas.microsoft.com/office/drawing/2014/main" id="{63A35025-78BF-0392-4468-3CE185195572}"/>
                    </a:ext>
                  </a:extLst>
                </p:cNvPr>
                <p:cNvSpPr txBox="1"/>
                <p:nvPr/>
              </p:nvSpPr>
              <p:spPr>
                <a:xfrm>
                  <a:off x="784180" y="1507650"/>
                  <a:ext cx="568200" cy="47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6B727"/>
                      </a:solidFill>
                      <a:effectLst/>
                      <a:uLnTx/>
                      <a:uFillTx/>
                      <a:latin typeface="Georgia Pro Cond" panose="02040506050405020303" pitchFamily="18" charset="0"/>
                      <a:ea typeface="Fira Sans"/>
                      <a:cs typeface="Fira Sans"/>
                      <a:sym typeface="Fira Sans"/>
                    </a:rPr>
                    <a:t>01</a:t>
                  </a:r>
                  <a:endParaRPr kumimoji="0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6B727"/>
                    </a:solidFill>
                    <a:effectLst/>
                    <a:uLnTx/>
                    <a:uFillTx/>
                    <a:latin typeface="Georgia Pro Cond" panose="02040506050405020303" pitchFamily="18" charset="0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grpSp>
            <p:nvGrpSpPr>
              <p:cNvPr id="22" name="Google Shape;292;p19">
                <a:extLst>
                  <a:ext uri="{FF2B5EF4-FFF2-40B4-BE49-F238E27FC236}">
                    <a16:creationId xmlns:a16="http://schemas.microsoft.com/office/drawing/2014/main" id="{708D1744-2925-8D12-4669-E66EEABF183E}"/>
                  </a:ext>
                </a:extLst>
              </p:cNvPr>
              <p:cNvGrpSpPr/>
              <p:nvPr/>
            </p:nvGrpSpPr>
            <p:grpSpPr>
              <a:xfrm>
                <a:off x="784179" y="2184972"/>
                <a:ext cx="5905253" cy="799800"/>
                <a:chOff x="784179" y="2184972"/>
                <a:chExt cx="5905253" cy="799800"/>
              </a:xfrm>
            </p:grpSpPr>
            <p:grpSp>
              <p:nvGrpSpPr>
                <p:cNvPr id="45" name="Google Shape;293;p19">
                  <a:extLst>
                    <a:ext uri="{FF2B5EF4-FFF2-40B4-BE49-F238E27FC236}">
                      <a16:creationId xmlns:a16="http://schemas.microsoft.com/office/drawing/2014/main" id="{DD4C25A6-7701-981A-A21D-F8C5693AD23B}"/>
                    </a:ext>
                  </a:extLst>
                </p:cNvPr>
                <p:cNvGrpSpPr/>
                <p:nvPr/>
              </p:nvGrpSpPr>
              <p:grpSpPr>
                <a:xfrm>
                  <a:off x="1462213" y="2184972"/>
                  <a:ext cx="5227219" cy="799800"/>
                  <a:chOff x="1462213" y="2184972"/>
                  <a:chExt cx="5227219" cy="799800"/>
                </a:xfrm>
              </p:grpSpPr>
              <p:grpSp>
                <p:nvGrpSpPr>
                  <p:cNvPr id="50" name="Google Shape;294;p19">
                    <a:extLst>
                      <a:ext uri="{FF2B5EF4-FFF2-40B4-BE49-F238E27FC236}">
                        <a16:creationId xmlns:a16="http://schemas.microsoft.com/office/drawing/2014/main" id="{6B458CBF-0CBC-2826-949E-24BD8FFB092A}"/>
                      </a:ext>
                    </a:extLst>
                  </p:cNvPr>
                  <p:cNvGrpSpPr/>
                  <p:nvPr/>
                </p:nvGrpSpPr>
                <p:grpSpPr>
                  <a:xfrm>
                    <a:off x="1462213" y="2184972"/>
                    <a:ext cx="5227219" cy="799800"/>
                    <a:chOff x="1462213" y="2337372"/>
                    <a:chExt cx="5227219" cy="799800"/>
                  </a:xfrm>
                </p:grpSpPr>
                <p:sp>
                  <p:nvSpPr>
                    <p:cNvPr id="53" name="Google Shape;295;p19">
                      <a:extLst>
                        <a:ext uri="{FF2B5EF4-FFF2-40B4-BE49-F238E27FC236}">
                          <a16:creationId xmlns:a16="http://schemas.microsoft.com/office/drawing/2014/main" id="{F3EC320B-6FF4-53A3-FDC4-7B98D36A59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2616" y="2337762"/>
                      <a:ext cx="2956816" cy="799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763" h="25349" extrusionOk="0">
                          <a:moveTo>
                            <a:pt x="0" y="0"/>
                          </a:moveTo>
                          <a:lnTo>
                            <a:pt x="0" y="25348"/>
                          </a:lnTo>
                          <a:lnTo>
                            <a:pt x="82499" y="25348"/>
                          </a:lnTo>
                          <a:cubicBezTo>
                            <a:pt x="88726" y="25348"/>
                            <a:pt x="93762" y="20300"/>
                            <a:pt x="93762" y="14085"/>
                          </a:cubicBezTo>
                          <a:lnTo>
                            <a:pt x="93762" y="11275"/>
                          </a:lnTo>
                          <a:cubicBezTo>
                            <a:pt x="93762" y="5048"/>
                            <a:pt x="88726" y="0"/>
                            <a:pt x="82499" y="0"/>
                          </a:cubicBezTo>
                          <a:close/>
                        </a:path>
                      </a:pathLst>
                    </a:custGeom>
                    <a:solidFill>
                      <a:srgbClr val="F6920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" name="Google Shape;296;p19">
                      <a:extLst>
                        <a:ext uri="{FF2B5EF4-FFF2-40B4-BE49-F238E27FC236}">
                          <a16:creationId xmlns:a16="http://schemas.microsoft.com/office/drawing/2014/main" id="{CB998C8C-809E-37E1-BC4A-5AF32E0DF8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2213" y="2337372"/>
                      <a:ext cx="2364000" cy="799800"/>
                    </a:xfrm>
                    <a:prstGeom prst="rect">
                      <a:avLst/>
                    </a:prstGeom>
                    <a:solidFill>
                      <a:srgbClr val="F6920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51" name="Google Shape;297;p19">
                    <a:extLst>
                      <a:ext uri="{FF2B5EF4-FFF2-40B4-BE49-F238E27FC236}">
                        <a16:creationId xmlns:a16="http://schemas.microsoft.com/office/drawing/2014/main" id="{830DCC0E-C155-42CA-3B7E-C190DFD45FA3}"/>
                      </a:ext>
                    </a:extLst>
                  </p:cNvPr>
                  <p:cNvSpPr/>
                  <p:nvPr/>
                </p:nvSpPr>
                <p:spPr>
                  <a:xfrm>
                    <a:off x="5968531" y="2269088"/>
                    <a:ext cx="631930" cy="6315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9" h="20027" extrusionOk="0">
                        <a:moveTo>
                          <a:pt x="10013" y="0"/>
                        </a:moveTo>
                        <a:cubicBezTo>
                          <a:pt x="4489" y="0"/>
                          <a:pt x="0" y="4477"/>
                          <a:pt x="0" y="10013"/>
                        </a:cubicBezTo>
                        <a:cubicBezTo>
                          <a:pt x="0" y="15550"/>
                          <a:pt x="4489" y="20026"/>
                          <a:pt x="10013" y="20026"/>
                        </a:cubicBezTo>
                        <a:cubicBezTo>
                          <a:pt x="15550" y="20026"/>
                          <a:pt x="20038" y="15550"/>
                          <a:pt x="20038" y="10013"/>
                        </a:cubicBezTo>
                        <a:cubicBezTo>
                          <a:pt x="20038" y="4477"/>
                          <a:pt x="15550" y="0"/>
                          <a:pt x="100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" name="Google Shape;298;p19">
                    <a:extLst>
                      <a:ext uri="{FF2B5EF4-FFF2-40B4-BE49-F238E27FC236}">
                        <a16:creationId xmlns:a16="http://schemas.microsoft.com/office/drawing/2014/main" id="{D3127737-4CAA-27D3-42DA-0DE3C774DCD1}"/>
                      </a:ext>
                    </a:extLst>
                  </p:cNvPr>
                  <p:cNvSpPr/>
                  <p:nvPr/>
                </p:nvSpPr>
                <p:spPr>
                  <a:xfrm>
                    <a:off x="3007017" y="2302483"/>
                    <a:ext cx="32" cy="565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7920" fill="none" extrusionOk="0">
                        <a:moveTo>
                          <a:pt x="1" y="1"/>
                        </a:moveTo>
                        <a:lnTo>
                          <a:pt x="1" y="17920"/>
                        </a:lnTo>
                      </a:path>
                    </a:pathLst>
                  </a:custGeom>
                  <a:solidFill>
                    <a:srgbClr val="000000"/>
                  </a:solidFill>
                  <a:ln w="19050" cap="rnd" cmpd="sng">
                    <a:solidFill>
                      <a:sysClr val="window" lastClr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9" name="Google Shape;302;p19">
                  <a:extLst>
                    <a:ext uri="{FF2B5EF4-FFF2-40B4-BE49-F238E27FC236}">
                      <a16:creationId xmlns:a16="http://schemas.microsoft.com/office/drawing/2014/main" id="{2E5E3533-6DF8-7070-7B7B-193ED222EB2B}"/>
                    </a:ext>
                  </a:extLst>
                </p:cNvPr>
                <p:cNvSpPr txBox="1"/>
                <p:nvPr/>
              </p:nvSpPr>
              <p:spPr>
                <a:xfrm>
                  <a:off x="784179" y="2304988"/>
                  <a:ext cx="568200" cy="47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69200"/>
                      </a:solidFill>
                      <a:effectLst/>
                      <a:uLnTx/>
                      <a:uFillTx/>
                      <a:latin typeface="Georgia Pro Cond" panose="02040506050405020303" pitchFamily="18" charset="0"/>
                      <a:ea typeface="Fira Sans"/>
                      <a:cs typeface="Fira Sans"/>
                      <a:sym typeface="Fira Sans"/>
                    </a:rPr>
                    <a:t>02</a:t>
                  </a:r>
                  <a:endParaRPr kumimoji="0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F69200"/>
                    </a:solidFill>
                    <a:effectLst/>
                    <a:uLnTx/>
                    <a:uFillTx/>
                    <a:latin typeface="Georgia Pro Cond" panose="02040506050405020303" pitchFamily="18" charset="0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grpSp>
            <p:nvGrpSpPr>
              <p:cNvPr id="23" name="Google Shape;303;p19">
                <a:extLst>
                  <a:ext uri="{FF2B5EF4-FFF2-40B4-BE49-F238E27FC236}">
                    <a16:creationId xmlns:a16="http://schemas.microsoft.com/office/drawing/2014/main" id="{9241C1A6-1CF9-DFDD-9036-5CBF97F50139}"/>
                  </a:ext>
                </a:extLst>
              </p:cNvPr>
              <p:cNvGrpSpPr/>
              <p:nvPr/>
            </p:nvGrpSpPr>
            <p:grpSpPr>
              <a:xfrm>
                <a:off x="784180" y="2982819"/>
                <a:ext cx="6897596" cy="799800"/>
                <a:chOff x="784180" y="2982819"/>
                <a:chExt cx="6897596" cy="799800"/>
              </a:xfrm>
            </p:grpSpPr>
            <p:grpSp>
              <p:nvGrpSpPr>
                <p:cNvPr id="35" name="Google Shape;304;p19">
                  <a:extLst>
                    <a:ext uri="{FF2B5EF4-FFF2-40B4-BE49-F238E27FC236}">
                      <a16:creationId xmlns:a16="http://schemas.microsoft.com/office/drawing/2014/main" id="{7F810E6A-0854-92F8-088A-ADB8B667F4FB}"/>
                    </a:ext>
                  </a:extLst>
                </p:cNvPr>
                <p:cNvGrpSpPr/>
                <p:nvPr/>
              </p:nvGrpSpPr>
              <p:grpSpPr>
                <a:xfrm>
                  <a:off x="1462213" y="2982819"/>
                  <a:ext cx="6219563" cy="799800"/>
                  <a:chOff x="1462213" y="2982819"/>
                  <a:chExt cx="6219563" cy="799800"/>
                </a:xfrm>
              </p:grpSpPr>
              <p:grpSp>
                <p:nvGrpSpPr>
                  <p:cNvPr id="40" name="Google Shape;305;p19">
                    <a:extLst>
                      <a:ext uri="{FF2B5EF4-FFF2-40B4-BE49-F238E27FC236}">
                        <a16:creationId xmlns:a16="http://schemas.microsoft.com/office/drawing/2014/main" id="{BC95AD90-569B-C05C-8AD7-77C146AD9F7E}"/>
                      </a:ext>
                    </a:extLst>
                  </p:cNvPr>
                  <p:cNvGrpSpPr/>
                  <p:nvPr/>
                </p:nvGrpSpPr>
                <p:grpSpPr>
                  <a:xfrm>
                    <a:off x="1462213" y="2982819"/>
                    <a:ext cx="6219563" cy="799800"/>
                    <a:chOff x="1462213" y="3135219"/>
                    <a:chExt cx="6219563" cy="799800"/>
                  </a:xfrm>
                </p:grpSpPr>
                <p:sp>
                  <p:nvSpPr>
                    <p:cNvPr id="43" name="Google Shape;306;p19">
                      <a:extLst>
                        <a:ext uri="{FF2B5EF4-FFF2-40B4-BE49-F238E27FC236}">
                          <a16:creationId xmlns:a16="http://schemas.microsoft.com/office/drawing/2014/main" id="{7B4E73A4-7CFA-C72C-66EC-5676BA33F8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2237" y="3135222"/>
                      <a:ext cx="3949538" cy="7997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243" h="25362" extrusionOk="0">
                          <a:moveTo>
                            <a:pt x="1" y="1"/>
                          </a:moveTo>
                          <a:lnTo>
                            <a:pt x="1" y="25361"/>
                          </a:lnTo>
                          <a:lnTo>
                            <a:pt x="113979" y="25361"/>
                          </a:lnTo>
                          <a:cubicBezTo>
                            <a:pt x="120194" y="25349"/>
                            <a:pt x="125242" y="20301"/>
                            <a:pt x="125242" y="14086"/>
                          </a:cubicBezTo>
                          <a:lnTo>
                            <a:pt x="125242" y="11264"/>
                          </a:lnTo>
                          <a:cubicBezTo>
                            <a:pt x="125242" y="5049"/>
                            <a:pt x="120194" y="1"/>
                            <a:pt x="113979" y="1"/>
                          </a:cubicBezTo>
                          <a:close/>
                        </a:path>
                      </a:pathLst>
                    </a:custGeom>
                    <a:solidFill>
                      <a:srgbClr val="418AB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" name="Google Shape;307;p19">
                      <a:extLst>
                        <a:ext uri="{FF2B5EF4-FFF2-40B4-BE49-F238E27FC236}">
                          <a16:creationId xmlns:a16="http://schemas.microsoft.com/office/drawing/2014/main" id="{E0CD746D-A662-654D-51AB-2B8118086C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2213" y="3135219"/>
                      <a:ext cx="2364000" cy="799800"/>
                    </a:xfrm>
                    <a:prstGeom prst="rect">
                      <a:avLst/>
                    </a:prstGeom>
                    <a:solidFill>
                      <a:srgbClr val="418AB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1" name="Google Shape;308;p19">
                    <a:extLst>
                      <a:ext uri="{FF2B5EF4-FFF2-40B4-BE49-F238E27FC236}">
                        <a16:creationId xmlns:a16="http://schemas.microsoft.com/office/drawing/2014/main" id="{A458371C-A282-5D2F-4BFC-47AAA036D0EA}"/>
                      </a:ext>
                    </a:extLst>
                  </p:cNvPr>
                  <p:cNvSpPr/>
                  <p:nvPr/>
                </p:nvSpPr>
                <p:spPr>
                  <a:xfrm>
                    <a:off x="6960884" y="3066579"/>
                    <a:ext cx="631551" cy="6315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7" h="20027" extrusionOk="0">
                        <a:moveTo>
                          <a:pt x="10014" y="0"/>
                        </a:moveTo>
                        <a:cubicBezTo>
                          <a:pt x="4477" y="0"/>
                          <a:pt x="0" y="4477"/>
                          <a:pt x="0" y="10013"/>
                        </a:cubicBezTo>
                        <a:cubicBezTo>
                          <a:pt x="0" y="15538"/>
                          <a:pt x="4477" y="20026"/>
                          <a:pt x="10014" y="20026"/>
                        </a:cubicBezTo>
                        <a:cubicBezTo>
                          <a:pt x="15550" y="20026"/>
                          <a:pt x="20027" y="15538"/>
                          <a:pt x="20027" y="10013"/>
                        </a:cubicBezTo>
                        <a:cubicBezTo>
                          <a:pt x="20027" y="4477"/>
                          <a:pt x="15550" y="0"/>
                          <a:pt x="100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" name="Google Shape;309;p19">
                    <a:extLst>
                      <a:ext uri="{FF2B5EF4-FFF2-40B4-BE49-F238E27FC236}">
                        <a16:creationId xmlns:a16="http://schemas.microsoft.com/office/drawing/2014/main" id="{257B4059-DEFA-7DD4-0DF9-EF546724627C}"/>
                      </a:ext>
                    </a:extLst>
                  </p:cNvPr>
                  <p:cNvSpPr/>
                  <p:nvPr/>
                </p:nvSpPr>
                <p:spPr>
                  <a:xfrm>
                    <a:off x="3007017" y="3099596"/>
                    <a:ext cx="32" cy="565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7920" fill="none" extrusionOk="0">
                        <a:moveTo>
                          <a:pt x="1" y="1"/>
                        </a:moveTo>
                        <a:lnTo>
                          <a:pt x="1" y="17920"/>
                        </a:lnTo>
                      </a:path>
                    </a:pathLst>
                  </a:custGeom>
                  <a:solidFill>
                    <a:srgbClr val="000000"/>
                  </a:solidFill>
                  <a:ln w="19050" cap="rnd" cmpd="sng">
                    <a:solidFill>
                      <a:sysClr val="window" lastClr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9" name="Google Shape;313;p19">
                  <a:extLst>
                    <a:ext uri="{FF2B5EF4-FFF2-40B4-BE49-F238E27FC236}">
                      <a16:creationId xmlns:a16="http://schemas.microsoft.com/office/drawing/2014/main" id="{42EBA2BD-23C2-7D78-B5C8-72EC89ED1E15}"/>
                    </a:ext>
                  </a:extLst>
                </p:cNvPr>
                <p:cNvSpPr txBox="1"/>
                <p:nvPr/>
              </p:nvSpPr>
              <p:spPr>
                <a:xfrm>
                  <a:off x="784180" y="3102363"/>
                  <a:ext cx="568200" cy="47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18AB3"/>
                      </a:solidFill>
                      <a:effectLst/>
                      <a:uLnTx/>
                      <a:uFillTx/>
                      <a:latin typeface="Georgia Pro Cond" panose="02040506050405020303" pitchFamily="18" charset="0"/>
                      <a:ea typeface="Fira Sans"/>
                      <a:cs typeface="Fira Sans"/>
                      <a:sym typeface="Fira Sans"/>
                    </a:rPr>
                    <a:t>03</a:t>
                  </a:r>
                  <a:endParaRPr kumimoji="0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418AB3"/>
                    </a:solidFill>
                    <a:effectLst/>
                    <a:uLnTx/>
                    <a:uFillTx/>
                    <a:latin typeface="Georgia Pro Cond" panose="02040506050405020303" pitchFamily="18" charset="0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  <p:grpSp>
            <p:nvGrpSpPr>
              <p:cNvPr id="24" name="Google Shape;314;p19">
                <a:extLst>
                  <a:ext uri="{FF2B5EF4-FFF2-40B4-BE49-F238E27FC236}">
                    <a16:creationId xmlns:a16="http://schemas.microsoft.com/office/drawing/2014/main" id="{456BBD9D-47A1-13D3-FB44-941E43A54522}"/>
                  </a:ext>
                </a:extLst>
              </p:cNvPr>
              <p:cNvGrpSpPr/>
              <p:nvPr/>
            </p:nvGrpSpPr>
            <p:grpSpPr>
              <a:xfrm>
                <a:off x="784179" y="3780303"/>
                <a:ext cx="6218018" cy="799800"/>
                <a:chOff x="784179" y="3780303"/>
                <a:chExt cx="6218018" cy="799800"/>
              </a:xfrm>
            </p:grpSpPr>
            <p:grpSp>
              <p:nvGrpSpPr>
                <p:cNvPr id="25" name="Google Shape;315;p19">
                  <a:extLst>
                    <a:ext uri="{FF2B5EF4-FFF2-40B4-BE49-F238E27FC236}">
                      <a16:creationId xmlns:a16="http://schemas.microsoft.com/office/drawing/2014/main" id="{14381245-D6DE-7060-69F9-76F9A4AC8A39}"/>
                    </a:ext>
                  </a:extLst>
                </p:cNvPr>
                <p:cNvGrpSpPr/>
                <p:nvPr/>
              </p:nvGrpSpPr>
              <p:grpSpPr>
                <a:xfrm>
                  <a:off x="1462213" y="3780303"/>
                  <a:ext cx="5539984" cy="799800"/>
                  <a:chOff x="1462213" y="3780303"/>
                  <a:chExt cx="5539984" cy="799800"/>
                </a:xfrm>
              </p:grpSpPr>
              <p:grpSp>
                <p:nvGrpSpPr>
                  <p:cNvPr id="30" name="Google Shape;316;p19">
                    <a:extLst>
                      <a:ext uri="{FF2B5EF4-FFF2-40B4-BE49-F238E27FC236}">
                        <a16:creationId xmlns:a16="http://schemas.microsoft.com/office/drawing/2014/main" id="{581049CE-8B95-B4D7-4358-40E71B5FA3F4}"/>
                      </a:ext>
                    </a:extLst>
                  </p:cNvPr>
                  <p:cNvGrpSpPr/>
                  <p:nvPr/>
                </p:nvGrpSpPr>
                <p:grpSpPr>
                  <a:xfrm>
                    <a:off x="1462213" y="3780303"/>
                    <a:ext cx="5539984" cy="799800"/>
                    <a:chOff x="1462213" y="3932703"/>
                    <a:chExt cx="5539984" cy="799800"/>
                  </a:xfrm>
                </p:grpSpPr>
                <p:sp>
                  <p:nvSpPr>
                    <p:cNvPr id="33" name="Google Shape;317;p19">
                      <a:extLst>
                        <a:ext uri="{FF2B5EF4-FFF2-40B4-BE49-F238E27FC236}">
                          <a16:creationId xmlns:a16="http://schemas.microsoft.com/office/drawing/2014/main" id="{84518A1D-1542-B458-C1D1-1602C4D8AA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2616" y="3932713"/>
                      <a:ext cx="3269580" cy="7997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3681" h="25361" extrusionOk="0">
                          <a:moveTo>
                            <a:pt x="0" y="1"/>
                          </a:moveTo>
                          <a:lnTo>
                            <a:pt x="0" y="25361"/>
                          </a:lnTo>
                          <a:lnTo>
                            <a:pt x="92417" y="25361"/>
                          </a:lnTo>
                          <a:cubicBezTo>
                            <a:pt x="98632" y="25349"/>
                            <a:pt x="103680" y="20301"/>
                            <a:pt x="103680" y="14074"/>
                          </a:cubicBezTo>
                          <a:lnTo>
                            <a:pt x="103680" y="11264"/>
                          </a:lnTo>
                          <a:cubicBezTo>
                            <a:pt x="103680" y="5049"/>
                            <a:pt x="98632" y="1"/>
                            <a:pt x="92417" y="1"/>
                          </a:cubicBezTo>
                          <a:close/>
                        </a:path>
                      </a:pathLst>
                    </a:custGeom>
                    <a:solidFill>
                      <a:srgbClr val="DF5327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" name="Google Shape;318;p19">
                      <a:extLst>
                        <a:ext uri="{FF2B5EF4-FFF2-40B4-BE49-F238E27FC236}">
                          <a16:creationId xmlns:a16="http://schemas.microsoft.com/office/drawing/2014/main" id="{FCE4C729-18D3-C9C6-8FB0-A602CA936F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2213" y="3932703"/>
                      <a:ext cx="2364000" cy="799800"/>
                    </a:xfrm>
                    <a:prstGeom prst="rect">
                      <a:avLst/>
                    </a:prstGeom>
                    <a:solidFill>
                      <a:srgbClr val="DF5327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31" name="Google Shape;319;p19">
                    <a:extLst>
                      <a:ext uri="{FF2B5EF4-FFF2-40B4-BE49-F238E27FC236}">
                        <a16:creationId xmlns:a16="http://schemas.microsoft.com/office/drawing/2014/main" id="{68D51A08-4B4A-7147-8D7E-91A7B7D046A7}"/>
                      </a:ext>
                    </a:extLst>
                  </p:cNvPr>
                  <p:cNvSpPr/>
                  <p:nvPr/>
                </p:nvSpPr>
                <p:spPr>
                  <a:xfrm>
                    <a:off x="6281298" y="3863660"/>
                    <a:ext cx="631551" cy="631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7" h="20040" extrusionOk="0">
                        <a:moveTo>
                          <a:pt x="10013" y="1"/>
                        </a:moveTo>
                        <a:cubicBezTo>
                          <a:pt x="4477" y="1"/>
                          <a:pt x="0" y="4490"/>
                          <a:pt x="0" y="10014"/>
                        </a:cubicBezTo>
                        <a:cubicBezTo>
                          <a:pt x="0" y="15550"/>
                          <a:pt x="4477" y="20039"/>
                          <a:pt x="10013" y="20039"/>
                        </a:cubicBezTo>
                        <a:cubicBezTo>
                          <a:pt x="15550" y="20039"/>
                          <a:pt x="20026" y="15550"/>
                          <a:pt x="20026" y="10014"/>
                        </a:cubicBezTo>
                        <a:cubicBezTo>
                          <a:pt x="20026" y="4490"/>
                          <a:pt x="15550" y="1"/>
                          <a:pt x="1001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Google Shape;320;p19">
                    <a:extLst>
                      <a:ext uri="{FF2B5EF4-FFF2-40B4-BE49-F238E27FC236}">
                        <a16:creationId xmlns:a16="http://schemas.microsoft.com/office/drawing/2014/main" id="{4F0F6D8D-6FF7-C8C6-0F37-59EF1AF0B038}"/>
                      </a:ext>
                    </a:extLst>
                  </p:cNvPr>
                  <p:cNvSpPr/>
                  <p:nvPr/>
                </p:nvSpPr>
                <p:spPr>
                  <a:xfrm>
                    <a:off x="3007017" y="3897087"/>
                    <a:ext cx="32" cy="565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7920" fill="none" extrusionOk="0">
                        <a:moveTo>
                          <a:pt x="1" y="1"/>
                        </a:moveTo>
                        <a:lnTo>
                          <a:pt x="1" y="17919"/>
                        </a:lnTo>
                      </a:path>
                    </a:pathLst>
                  </a:custGeom>
                  <a:solidFill>
                    <a:srgbClr val="000000"/>
                  </a:solidFill>
                  <a:ln w="19050" cap="rnd" cmpd="sng">
                    <a:solidFill>
                      <a:sysClr val="window" lastClr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9" name="Google Shape;324;p19">
                  <a:extLst>
                    <a:ext uri="{FF2B5EF4-FFF2-40B4-BE49-F238E27FC236}">
                      <a16:creationId xmlns:a16="http://schemas.microsoft.com/office/drawing/2014/main" id="{D7D26098-6277-55C5-BA54-E3451E19DB14}"/>
                    </a:ext>
                  </a:extLst>
                </p:cNvPr>
                <p:cNvSpPr txBox="1"/>
                <p:nvPr/>
              </p:nvSpPr>
              <p:spPr>
                <a:xfrm>
                  <a:off x="784179" y="3899488"/>
                  <a:ext cx="568200" cy="47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DF5327"/>
                      </a:solidFill>
                      <a:effectLst/>
                      <a:uLnTx/>
                      <a:uFillTx/>
                      <a:latin typeface="Georgia Pro Cond" panose="02040506050405020303" pitchFamily="18" charset="0"/>
                      <a:ea typeface="Fira Sans"/>
                      <a:cs typeface="Fira Sans"/>
                      <a:sym typeface="Fira Sans"/>
                    </a:rPr>
                    <a:t>04</a:t>
                  </a:r>
                  <a:endParaRPr kumimoji="0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5327"/>
                    </a:solidFill>
                    <a:effectLst/>
                    <a:uLnTx/>
                    <a:uFillTx/>
                    <a:latin typeface="Georgia Pro Cond" panose="02040506050405020303" pitchFamily="18" charset="0"/>
                    <a:ea typeface="Fira Sans"/>
                    <a:cs typeface="Fira Sans"/>
                    <a:sym typeface="Fira Sans"/>
                  </a:endParaRPr>
                </a:p>
              </p:txBody>
            </p:sp>
          </p:grpSp>
        </p:grpSp>
        <p:pic>
          <p:nvPicPr>
            <p:cNvPr id="17" name="Graphic 48" descr="Bar graph with upward trend">
              <a:extLst>
                <a:ext uri="{FF2B5EF4-FFF2-40B4-BE49-F238E27FC236}">
                  <a16:creationId xmlns:a16="http://schemas.microsoft.com/office/drawing/2014/main" id="{CAF5A842-00B6-0644-8321-83B516C26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3544" y="4160428"/>
              <a:ext cx="429428" cy="429428"/>
            </a:xfrm>
            <a:prstGeom prst="rect">
              <a:avLst/>
            </a:prstGeom>
          </p:spPr>
        </p:pic>
        <p:pic>
          <p:nvPicPr>
            <p:cNvPr id="18" name="Graphic 49" descr="Bullseye">
              <a:extLst>
                <a:ext uri="{FF2B5EF4-FFF2-40B4-BE49-F238E27FC236}">
                  <a16:creationId xmlns:a16="http://schemas.microsoft.com/office/drawing/2014/main" id="{1D3A8D4D-134F-CE01-5F37-79C04BEC6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5688" y="3071126"/>
              <a:ext cx="429428" cy="429428"/>
            </a:xfrm>
            <a:prstGeom prst="rect">
              <a:avLst/>
            </a:prstGeom>
          </p:spPr>
        </p:pic>
        <p:pic>
          <p:nvPicPr>
            <p:cNvPr id="19" name="Graphic 50" descr="Briefcase">
              <a:extLst>
                <a:ext uri="{FF2B5EF4-FFF2-40B4-BE49-F238E27FC236}">
                  <a16:creationId xmlns:a16="http://schemas.microsoft.com/office/drawing/2014/main" id="{BB316274-BCA7-0289-9589-B55E2EDDA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62271" y="1980159"/>
              <a:ext cx="429428" cy="429428"/>
            </a:xfrm>
            <a:prstGeom prst="rect">
              <a:avLst/>
            </a:prstGeom>
          </p:spPr>
        </p:pic>
        <p:pic>
          <p:nvPicPr>
            <p:cNvPr id="20" name="Graphic 51" descr="Money">
              <a:extLst>
                <a:ext uri="{FF2B5EF4-FFF2-40B4-BE49-F238E27FC236}">
                  <a16:creationId xmlns:a16="http://schemas.microsoft.com/office/drawing/2014/main" id="{95D4AE66-0516-B6B1-A0DA-0EC0A77B4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44634" y="5272898"/>
              <a:ext cx="429428" cy="4294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19456" y="2134333"/>
            <a:ext cx="8970316" cy="5152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300000"/>
              </a:lnSpc>
              <a:spcBef>
                <a:spcPts val="100"/>
              </a:spcBef>
            </a:pPr>
            <a:r>
              <a:rPr lang="th-TH" sz="2900" b="1" spc="-160" dirty="0">
                <a:solidFill>
                  <a:schemeClr val="bg1"/>
                </a:solidFill>
                <a:latin typeface="Tahoma"/>
                <a:cs typeface="Tahoma"/>
              </a:rPr>
              <a:t>อัตราการเกิดอุบัติเหตุ (ปี 2567) </a:t>
            </a:r>
            <a:r>
              <a:rPr lang="en-US" sz="2900" b="1" spc="-160" dirty="0">
                <a:solidFill>
                  <a:schemeClr val="bg1"/>
                </a:solidFill>
                <a:latin typeface="Tahoma"/>
                <a:cs typeface="Tahoma"/>
              </a:rPr>
              <a:t>275.9 – 362.1</a:t>
            </a:r>
            <a:r>
              <a:rPr lang="th-TH" sz="2900" b="1" spc="-160" dirty="0">
                <a:solidFill>
                  <a:schemeClr val="bg1"/>
                </a:solidFill>
                <a:latin typeface="Tahoma"/>
                <a:cs typeface="Tahoma"/>
              </a:rPr>
              <a:t> ต่อแสนอัตราการเสียชีวิต (ปี 2567) </a:t>
            </a:r>
            <a:r>
              <a:rPr lang="en-US" sz="2900" b="1" spc="-160" dirty="0">
                <a:solidFill>
                  <a:schemeClr val="bg1"/>
                </a:solidFill>
                <a:latin typeface="Tahoma"/>
                <a:cs typeface="Tahoma"/>
              </a:rPr>
              <a:t>17.2</a:t>
            </a:r>
            <a:r>
              <a:rPr lang="th-TH" sz="2900" b="1" spc="-160" dirty="0">
                <a:solidFill>
                  <a:schemeClr val="bg1"/>
                </a:solidFill>
                <a:latin typeface="Tahoma"/>
                <a:cs typeface="Tahoma"/>
              </a:rPr>
              <a:t> ต่อแสน</a:t>
            </a:r>
            <a:endParaRPr lang="th-TH" sz="29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300000"/>
              </a:lnSpc>
              <a:spcBef>
                <a:spcPts val="100"/>
              </a:spcBef>
            </a:pPr>
            <a:r>
              <a:rPr lang="th-TH" sz="2900" b="1" spc="-100" dirty="0">
                <a:solidFill>
                  <a:schemeClr val="bg1"/>
                </a:solidFill>
                <a:latin typeface="Tahoma"/>
                <a:cs typeface="Tahoma"/>
              </a:rPr>
              <a:t>อัตราการไม่สวมหมวกกันนิรภัย </a:t>
            </a:r>
            <a:r>
              <a:rPr lang="en-US" sz="2900" b="1" spc="-100" dirty="0">
                <a:solidFill>
                  <a:schemeClr val="bg1"/>
                </a:solidFill>
                <a:latin typeface="Tahoma"/>
                <a:cs typeface="Tahoma"/>
              </a:rPr>
              <a:t>37</a:t>
            </a:r>
            <a:r>
              <a:rPr lang="th-TH" sz="2900" b="1" spc="-100" dirty="0">
                <a:solidFill>
                  <a:schemeClr val="bg1"/>
                </a:solidFill>
                <a:latin typeface="Tahoma"/>
                <a:cs typeface="Tahoma"/>
              </a:rPr>
              <a:t>.</a:t>
            </a:r>
            <a:r>
              <a:rPr lang="en-US" sz="2900" b="1" spc="-100" dirty="0">
                <a:solidFill>
                  <a:schemeClr val="bg1"/>
                </a:solidFill>
                <a:latin typeface="Tahoma"/>
                <a:cs typeface="Tahoma"/>
              </a:rPr>
              <a:t>5</a:t>
            </a:r>
            <a:r>
              <a:rPr lang="th-TH" sz="2900" b="1" spc="-10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lang="en-US" sz="2900" b="1" spc="-100" dirty="0">
                <a:solidFill>
                  <a:schemeClr val="bg1"/>
                </a:solidFill>
                <a:latin typeface="Tahoma"/>
                <a:cs typeface="Tahoma"/>
              </a:rPr>
              <a:t>%</a:t>
            </a:r>
            <a:endParaRPr lang="th-TH" sz="2900" dirty="0">
              <a:solidFill>
                <a:schemeClr val="bg1"/>
              </a:solidFill>
              <a:latin typeface="Arial Black"/>
              <a:cs typeface="Tahoma"/>
            </a:endParaRPr>
          </a:p>
          <a:p>
            <a:pPr marL="12700">
              <a:lnSpc>
                <a:spcPct val="300000"/>
              </a:lnSpc>
              <a:spcBef>
                <a:spcPts val="100"/>
              </a:spcBef>
            </a:pPr>
            <a:r>
              <a:rPr lang="th-TH" sz="2900" b="1" spc="-145" dirty="0">
                <a:solidFill>
                  <a:schemeClr val="bg1"/>
                </a:solidFill>
                <a:latin typeface="Tahoma"/>
                <a:cs typeface="Tahoma"/>
              </a:rPr>
              <a:t>สัดส่วนรถจักรยานยนต์ 7</a:t>
            </a:r>
            <a:r>
              <a:rPr lang="en-US" sz="2900" b="1" spc="-145" dirty="0">
                <a:solidFill>
                  <a:schemeClr val="bg1"/>
                </a:solidFill>
                <a:latin typeface="Tahoma"/>
                <a:cs typeface="Tahoma"/>
              </a:rPr>
              <a:t>6.2</a:t>
            </a:r>
            <a:r>
              <a:rPr lang="th-TH" sz="2900" b="1" spc="-1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lang="en-US" sz="2900" b="1" spc="-145" dirty="0">
                <a:solidFill>
                  <a:schemeClr val="bg1"/>
                </a:solidFill>
                <a:latin typeface="Tahoma"/>
                <a:cs typeface="Tahoma"/>
              </a:rPr>
              <a:t>%</a:t>
            </a:r>
            <a:endParaRPr lang="th-TH" sz="290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92000" y="1866900"/>
            <a:ext cx="6074689" cy="563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>
              <a:lnSpc>
                <a:spcPct val="300000"/>
              </a:lnSpc>
            </a:pP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เท่ากับ</a:t>
            </a:r>
            <a:r>
              <a:rPr lang="en-US" sz="4800" b="1" spc="-517" baseline="-7275" dirty="0">
                <a:solidFill>
                  <a:srgbClr val="FF0000"/>
                </a:solidFill>
                <a:latin typeface="Tahoma"/>
                <a:cs typeface="Tahoma"/>
              </a:rPr>
              <a:t>/</a:t>
            </a:r>
            <a:r>
              <a:rPr lang="th-TH" sz="4800" b="1" spc="-517" baseline="-7275" dirty="0">
                <a:solidFill>
                  <a:srgbClr val="FF0000"/>
                </a:solidFill>
                <a:latin typeface="Tahoma"/>
                <a:cs typeface="Tahoma"/>
              </a:rPr>
              <a:t>สูงกว่า </a:t>
            </a: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(ประเทศ 280 ต่อแสน)</a:t>
            </a:r>
          </a:p>
          <a:p>
            <a:pPr marL="125730">
              <a:lnSpc>
                <a:spcPct val="300000"/>
              </a:lnSpc>
            </a:pPr>
            <a:r>
              <a:rPr lang="th-TH" sz="4800" b="1" spc="-517" baseline="-7275" dirty="0">
                <a:solidFill>
                  <a:srgbClr val="00B050"/>
                </a:solidFill>
                <a:latin typeface="Tahoma"/>
                <a:cs typeface="Tahoma"/>
              </a:rPr>
              <a:t>ต่ำกว่า </a:t>
            </a: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(ประเทศ 20 ต่อแสน)</a:t>
            </a:r>
          </a:p>
          <a:p>
            <a:pPr marL="125730">
              <a:lnSpc>
                <a:spcPct val="300000"/>
              </a:lnSpc>
            </a:pPr>
            <a:r>
              <a:rPr lang="th-TH" sz="4800" b="1" spc="-517" baseline="-7275" dirty="0">
                <a:solidFill>
                  <a:srgbClr val="00B050"/>
                </a:solidFill>
                <a:latin typeface="Tahoma"/>
                <a:cs typeface="Tahoma"/>
              </a:rPr>
              <a:t>ต่ำกว่า </a:t>
            </a: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(ประเทศ 60 </a:t>
            </a:r>
            <a:r>
              <a:rPr lang="en-US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%</a:t>
            </a: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)</a:t>
            </a:r>
          </a:p>
          <a:p>
            <a:pPr marL="125730">
              <a:lnSpc>
                <a:spcPct val="300000"/>
              </a:lnSpc>
            </a:pPr>
            <a:r>
              <a:rPr lang="th-TH" sz="4800" b="1" spc="-517" baseline="-7275" dirty="0">
                <a:solidFill>
                  <a:srgbClr val="FF0000"/>
                </a:solidFill>
                <a:latin typeface="Tahoma"/>
                <a:cs typeface="Tahoma"/>
              </a:rPr>
              <a:t>สูงกว่า </a:t>
            </a: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(ประเทศ 75</a:t>
            </a:r>
            <a:r>
              <a:rPr lang="en-US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%</a:t>
            </a:r>
            <a:r>
              <a:rPr lang="th-TH" sz="4800" b="1" spc="-517" baseline="-7275" dirty="0">
                <a:solidFill>
                  <a:srgbClr val="081BD5"/>
                </a:solidFill>
                <a:latin typeface="Tahoma"/>
                <a:cs typeface="Tahoma"/>
              </a:rPr>
              <a:t>)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DFCD3B89-99C3-CDF8-39B3-E37432A58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80897"/>
            <a:ext cx="1277709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4800" spc="-210" dirty="0">
                <a:solidFill>
                  <a:srgbClr val="003399"/>
                </a:solidFill>
                <a:latin typeface="+mj-lt"/>
              </a:rPr>
              <a:t>สถานการณ์ของปัญหาในเขตพื้นที่ตำบลโพนเขวา</a:t>
            </a:r>
            <a:endParaRPr sz="4800" dirty="0">
              <a:solidFill>
                <a:srgbClr val="0033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: มุมมน 3">
            <a:extLst>
              <a:ext uri="{FF2B5EF4-FFF2-40B4-BE49-F238E27FC236}">
                <a16:creationId xmlns:a16="http://schemas.microsoft.com/office/drawing/2014/main" id="{F31BD098-B394-3A5A-312C-CEF4DA6CB7F5}"/>
              </a:ext>
            </a:extLst>
          </p:cNvPr>
          <p:cNvSpPr/>
          <p:nvPr/>
        </p:nvSpPr>
        <p:spPr>
          <a:xfrm>
            <a:off x="6324600" y="1714500"/>
            <a:ext cx="6248400" cy="1419699"/>
          </a:xfrm>
          <a:prstGeom prst="round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18" y="4391499"/>
            <a:ext cx="9267824" cy="33909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006767" y="2095500"/>
            <a:ext cx="5490033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h-TH" sz="3950" b="1" spc="-10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ความรุนแรงของปัญหา</a:t>
            </a:r>
            <a:endParaRPr sz="3950" b="1" dirty="0">
              <a:solidFill>
                <a:srgbClr val="003399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57637" y="4391499"/>
            <a:ext cx="8686800" cy="3390900"/>
            <a:chOff x="9557637" y="4391499"/>
            <a:chExt cx="8686800" cy="33909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7637" y="4391499"/>
              <a:ext cx="8686799" cy="3390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0546" y="5866386"/>
              <a:ext cx="123825" cy="1238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0546" y="6323586"/>
              <a:ext cx="123825" cy="123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0546" y="6780786"/>
              <a:ext cx="123825" cy="123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0546" y="7237986"/>
              <a:ext cx="123825" cy="1238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041902" y="4642476"/>
            <a:ext cx="7077075" cy="2875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7180">
              <a:lnSpc>
                <a:spcPct val="100000"/>
              </a:lnSpc>
              <a:spcBef>
                <a:spcPts val="105"/>
              </a:spcBef>
            </a:pPr>
            <a:r>
              <a:rPr lang="th-TH" sz="3950" b="1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จุดเสี่ยงหลัก</a:t>
            </a:r>
            <a:endParaRPr lang="th-TH" sz="3950" b="1" dirty="0">
              <a:solidFill>
                <a:srgbClr val="003399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615"/>
              </a:spcBef>
            </a:pP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ถนนสายหลัก กม.</a:t>
            </a:r>
            <a:r>
              <a:rPr lang="en-US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8 – 12 : 57.1%</a:t>
            </a: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 ของอุบัติเหตุ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แยกโพนเขวา </a:t>
            </a:r>
            <a:r>
              <a:rPr lang="en-US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– </a:t>
            </a: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ตลาดใหญ่ </a:t>
            </a:r>
            <a:r>
              <a:rPr lang="en-US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: </a:t>
            </a: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จุดเสี่ยงสูง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ช่วงเวลา</a:t>
            </a:r>
            <a:r>
              <a:rPr lang="th-TH" sz="2600" spc="110" dirty="0">
                <a:solidFill>
                  <a:srgbClr val="003399"/>
                </a:solidFill>
                <a:latin typeface="Microsoft Sans Serif"/>
                <a:cs typeface="Microsoft Sans Serif"/>
              </a:rPr>
              <a:t> </a:t>
            </a:r>
            <a:r>
              <a:rPr lang="th-TH" sz="2600" spc="-40" dirty="0">
                <a:solidFill>
                  <a:srgbClr val="003399"/>
                </a:solidFill>
                <a:latin typeface="Microsoft Sans Serif"/>
                <a:cs typeface="Microsoft Sans Serif"/>
              </a:rPr>
              <a:t>18:00 - </a:t>
            </a:r>
            <a:r>
              <a:rPr lang="th-TH" sz="2600" dirty="0">
                <a:solidFill>
                  <a:srgbClr val="003399"/>
                </a:solidFill>
                <a:latin typeface="Microsoft Sans Serif"/>
                <a:cs typeface="Microsoft Sans Serif"/>
              </a:rPr>
              <a:t>24:00</a:t>
            </a:r>
            <a:r>
              <a:rPr lang="th-TH" sz="2600" spc="110" dirty="0">
                <a:solidFill>
                  <a:srgbClr val="003399"/>
                </a:solidFill>
                <a:latin typeface="Microsoft Sans Serif"/>
                <a:cs typeface="Microsoft Sans Serif"/>
              </a:rPr>
              <a:t> </a:t>
            </a:r>
            <a:r>
              <a:rPr lang="th-TH" sz="2600" spc="-120" dirty="0">
                <a:solidFill>
                  <a:srgbClr val="003399"/>
                </a:solidFill>
                <a:latin typeface="Microsoft Sans Serif"/>
                <a:cs typeface="Microsoft Sans Serif"/>
              </a:rPr>
              <a:t>น.</a:t>
            </a:r>
            <a:r>
              <a:rPr lang="th-TH" sz="2600" spc="114" dirty="0">
                <a:solidFill>
                  <a:srgbClr val="003399"/>
                </a:solidFill>
                <a:latin typeface="Microsoft Sans Serif"/>
                <a:cs typeface="Microsoft Sans Serif"/>
              </a:rPr>
              <a:t> </a:t>
            </a:r>
            <a:r>
              <a:rPr lang="th-TH" sz="2600" spc="-175" dirty="0">
                <a:solidFill>
                  <a:srgbClr val="003399"/>
                </a:solidFill>
                <a:latin typeface="Microsoft Sans Serif"/>
                <a:cs typeface="Microsoft Sans Serif"/>
              </a:rPr>
              <a:t>3</a:t>
            </a:r>
            <a:r>
              <a:rPr lang="en-US" sz="2600" spc="-175" dirty="0">
                <a:solidFill>
                  <a:srgbClr val="003399"/>
                </a:solidFill>
                <a:latin typeface="Microsoft Sans Serif"/>
                <a:cs typeface="Microsoft Sans Serif"/>
              </a:rPr>
              <a:t>8</a:t>
            </a:r>
            <a:r>
              <a:rPr lang="th-TH" sz="2600" spc="-175" dirty="0">
                <a:solidFill>
                  <a:srgbClr val="003399"/>
                </a:solidFill>
                <a:latin typeface="Microsoft Sans Serif"/>
                <a:cs typeface="Microsoft Sans Serif"/>
              </a:rPr>
              <a:t>.</a:t>
            </a:r>
            <a:r>
              <a:rPr lang="en-US" sz="2600" spc="-175" dirty="0">
                <a:solidFill>
                  <a:srgbClr val="003399"/>
                </a:solidFill>
                <a:latin typeface="Microsoft Sans Serif"/>
                <a:cs typeface="Microsoft Sans Serif"/>
              </a:rPr>
              <a:t>1</a:t>
            </a:r>
            <a:r>
              <a:rPr lang="th-TH" sz="2600" spc="-175" dirty="0">
                <a:solidFill>
                  <a:srgbClr val="003399"/>
                </a:solidFill>
                <a:latin typeface="Microsoft Sans Serif"/>
                <a:cs typeface="Microsoft Sans Serif"/>
              </a:rPr>
              <a:t>%</a:t>
            </a:r>
            <a:r>
              <a:rPr lang="th-TH" sz="2600" spc="110" dirty="0">
                <a:solidFill>
                  <a:srgbClr val="003399"/>
                </a:solidFill>
                <a:latin typeface="Microsoft Sans Serif"/>
                <a:cs typeface="Microsoft Sans Serif"/>
              </a:rPr>
              <a:t> </a:t>
            </a:r>
            <a:r>
              <a:rPr lang="th-TH" sz="2600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ของอุบัติเหตุ</a:t>
            </a:r>
            <a:endParaRPr lang="th-TH" sz="2600" dirty="0">
              <a:solidFill>
                <a:srgbClr val="003399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th-TH" sz="2600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วันศุกร์ </a:t>
            </a:r>
            <a:r>
              <a:rPr lang="en-US" sz="2600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– </a:t>
            </a:r>
            <a:r>
              <a:rPr lang="th-TH" sz="2600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อาทิตย์ </a:t>
            </a:r>
            <a:r>
              <a:rPr lang="en-US" sz="2600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: </a:t>
            </a:r>
            <a:r>
              <a:rPr lang="th-TH" sz="2600" spc="-10" dirty="0">
                <a:solidFill>
                  <a:srgbClr val="003399"/>
                </a:solidFill>
                <a:latin typeface="Microsoft Sans Serif"/>
                <a:cs typeface="Microsoft Sans Serif"/>
              </a:rPr>
              <a:t>ช่วงเสี่ยงสูงของสัปดาห์</a:t>
            </a:r>
            <a:endParaRPr lang="th-TH" sz="2600" dirty="0">
              <a:solidFill>
                <a:srgbClr val="003399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9720" y="5858070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9720" y="6296219"/>
            <a:ext cx="114300" cy="1142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9720" y="6734370"/>
            <a:ext cx="114300" cy="1142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9720" y="7172520"/>
            <a:ext cx="114300" cy="1142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700063" y="4642476"/>
            <a:ext cx="7452995" cy="27621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0">
              <a:lnSpc>
                <a:spcPct val="100000"/>
              </a:lnSpc>
              <a:spcBef>
                <a:spcPts val="105"/>
              </a:spcBef>
            </a:pPr>
            <a:r>
              <a:rPr lang="th-TH" sz="3950" b="1" spc="-70" dirty="0">
                <a:solidFill>
                  <a:srgbClr val="003399"/>
                </a:solidFill>
                <a:latin typeface="Microsoft Sans Serif"/>
                <a:cs typeface="Microsoft Sans Serif"/>
              </a:rPr>
              <a:t>ตัวชี้วัดความเสี่ยง</a:t>
            </a:r>
            <a:endParaRPr sz="3950" b="1" dirty="0">
              <a:solidFill>
                <a:srgbClr val="003399"/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14999"/>
              </a:lnSpc>
              <a:spcBef>
                <a:spcPts val="3185"/>
              </a:spcBef>
            </a:pP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อุบัติเหตุเพิ่มขึ้น </a:t>
            </a:r>
            <a:r>
              <a:rPr lang="en-US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31.3 % </a:t>
            </a: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 (สูงกว่าค่าเฉลี่ยประเทศ)</a:t>
            </a:r>
          </a:p>
          <a:p>
            <a:pPr marL="12700" marR="5080">
              <a:lnSpc>
                <a:spcPct val="114999"/>
              </a:lnSpc>
            </a:pP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บาดเจ็บรุนแรงเพิ่มขึ้น </a:t>
            </a:r>
            <a:r>
              <a:rPr lang="en-US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66.7 %</a:t>
            </a: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 </a:t>
            </a:r>
            <a:r>
              <a:rPr lang="en-US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: </a:t>
            </a: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น่าวิตก</a:t>
            </a:r>
          </a:p>
          <a:p>
            <a:pPr marL="12700" marR="5080">
              <a:lnSpc>
                <a:spcPct val="114999"/>
              </a:lnSpc>
            </a:pP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ปัจจัยเสี่ยงใหม่ </a:t>
            </a:r>
            <a:r>
              <a:rPr lang="en-US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:</a:t>
            </a: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 สารเสพติดและกระท่อมเริ่มปรากฏ</a:t>
            </a:r>
          </a:p>
          <a:p>
            <a:pPr marL="12700" marR="5080">
              <a:lnSpc>
                <a:spcPct val="114999"/>
              </a:lnSpc>
            </a:pPr>
            <a:r>
              <a:rPr lang="th-TH" sz="3750" spc="-127" baseline="1111" dirty="0">
                <a:solidFill>
                  <a:srgbClr val="003399"/>
                </a:solidFill>
                <a:latin typeface="Microsoft Sans Serif"/>
                <a:cs typeface="Microsoft Sans Serif"/>
              </a:rPr>
              <a:t>ต้นทุนทางสังคมเพิ่มขึ้น 58.1 % : ผลกระทบรุนแรงขึ้น</a:t>
            </a:r>
            <a:r>
              <a:rPr lang="en-US" sz="2500" spc="75" dirty="0">
                <a:solidFill>
                  <a:srgbClr val="003399"/>
                </a:solidFill>
                <a:latin typeface="Microsoft Sans Serif"/>
                <a:cs typeface="Microsoft Sans Serif"/>
              </a:rPr>
              <a:t>%</a:t>
            </a:r>
            <a:endParaRPr lang="th-TH" sz="2500" dirty="0">
              <a:solidFill>
                <a:srgbClr val="003399"/>
              </a:solidFill>
              <a:latin typeface="Microsoft Sans Serif"/>
              <a:cs typeface="Microsoft Sans Serif"/>
            </a:endParaRP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7ED9187A-3D27-201D-B85B-386239EF7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6876" y="250414"/>
            <a:ext cx="1281005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4800" spc="-210" dirty="0">
                <a:solidFill>
                  <a:srgbClr val="003399"/>
                </a:solidFill>
                <a:latin typeface="+mj-lt"/>
              </a:rPr>
              <a:t>สถานการณ์ของปัญหาในเขตพื้นที่ตำบลโพนเขวา</a:t>
            </a:r>
            <a:endParaRPr sz="4800" dirty="0">
              <a:solidFill>
                <a:srgbClr val="0033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57200" y="2230951"/>
            <a:ext cx="7363459" cy="4267200"/>
          </a:xfrm>
          <a:custGeom>
            <a:avLst/>
            <a:gdLst/>
            <a:ahLst/>
            <a:cxnLst/>
            <a:rect l="l" t="t" r="r" b="b"/>
            <a:pathLst>
              <a:path w="7363459" h="3086100">
                <a:moveTo>
                  <a:pt x="7363054" y="3086100"/>
                </a:moveTo>
                <a:lnTo>
                  <a:pt x="0" y="3086100"/>
                </a:lnTo>
                <a:lnTo>
                  <a:pt x="0" y="0"/>
                </a:lnTo>
                <a:lnTo>
                  <a:pt x="7363054" y="0"/>
                </a:lnTo>
                <a:lnTo>
                  <a:pt x="7363054" y="30861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423CAE38-66A2-E85A-043A-72398FF6C4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0913" y="152611"/>
            <a:ext cx="127701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4800" spc="-210" dirty="0">
                <a:solidFill>
                  <a:srgbClr val="003399"/>
                </a:solidFill>
                <a:latin typeface="+mj-lt"/>
              </a:rPr>
              <a:t>สถานการณ์ของปัญหา (ความเสี่ยงด้านอุบัติเหตุ)</a:t>
            </a:r>
            <a:endParaRPr sz="4800" dirty="0">
              <a:solidFill>
                <a:srgbClr val="003399"/>
              </a:solidFill>
              <a:latin typeface="+mj-lt"/>
            </a:endParaRPr>
          </a:p>
        </p:txBody>
      </p:sp>
      <p:graphicFrame>
        <p:nvGraphicFramePr>
          <p:cNvPr id="47" name="แผนภูมิ 46">
            <a:extLst>
              <a:ext uri="{FF2B5EF4-FFF2-40B4-BE49-F238E27FC236}">
                <a16:creationId xmlns:a16="http://schemas.microsoft.com/office/drawing/2014/main" id="{5807DB4F-CB1B-45B2-8C8D-1A07A280B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416377"/>
              </p:ext>
            </p:extLst>
          </p:nvPr>
        </p:nvGraphicFramePr>
        <p:xfrm>
          <a:off x="8683656" y="1919648"/>
          <a:ext cx="8918543" cy="6271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225C2AD0-F4F7-221A-D96B-CE6553A5BA80}"/>
              </a:ext>
            </a:extLst>
          </p:cNvPr>
          <p:cNvSpPr txBox="1"/>
          <p:nvPr/>
        </p:nvSpPr>
        <p:spPr>
          <a:xfrm>
            <a:off x="2667000" y="2557743"/>
            <a:ext cx="342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ตัวชี้วัด(อุบัติเหตุ)</a:t>
            </a:r>
          </a:p>
        </p:txBody>
      </p:sp>
      <p:sp>
        <p:nvSpPr>
          <p:cNvPr id="51" name="กล่องข้อความ 50">
            <a:extLst>
              <a:ext uri="{FF2B5EF4-FFF2-40B4-BE49-F238E27FC236}">
                <a16:creationId xmlns:a16="http://schemas.microsoft.com/office/drawing/2014/main" id="{D25F4EE5-9403-FC90-5C64-5C23A5A795BE}"/>
              </a:ext>
            </a:extLst>
          </p:cNvPr>
          <p:cNvSpPr txBox="1"/>
          <p:nvPr/>
        </p:nvSpPr>
        <p:spPr>
          <a:xfrm>
            <a:off x="990600" y="3180618"/>
            <a:ext cx="678179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จำนวนครั้งที่เกิดอุบัติเหตุ </a:t>
            </a:r>
            <a:r>
              <a:rPr lang="en-US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	+31.3 %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จำนวนผู้บาดเจ็บ		</a:t>
            </a:r>
            <a:r>
              <a:rPr lang="en-US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+33.3 %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จำนวนเสียชีวิต			</a:t>
            </a:r>
            <a:r>
              <a:rPr lang="en-US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0.0 %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จำนวนผู้บาดเจ็บรุนแรง		</a:t>
            </a: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+66.7 %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อัตราการรอดชีวิต		</a:t>
            </a:r>
            <a:r>
              <a:rPr lang="en-US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+1.4 %</a:t>
            </a:r>
          </a:p>
          <a:p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2">
            <a:extLst>
              <a:ext uri="{FF2B5EF4-FFF2-40B4-BE49-F238E27FC236}">
                <a16:creationId xmlns:a16="http://schemas.microsoft.com/office/drawing/2014/main" id="{423CAE38-66A2-E85A-043A-72398FF6C4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0913" y="152611"/>
            <a:ext cx="127701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4800" spc="-210" dirty="0">
                <a:solidFill>
                  <a:srgbClr val="003399"/>
                </a:solidFill>
                <a:latin typeface="+mj-lt"/>
              </a:rPr>
              <a:t>สถานการณ์ของปัญหา (ด้านสถานที่เกิดเหตุ)</a:t>
            </a:r>
            <a:endParaRPr sz="4800" dirty="0">
              <a:solidFill>
                <a:srgbClr val="003399"/>
              </a:solidFill>
              <a:latin typeface="+mj-lt"/>
            </a:endParaRPr>
          </a:p>
        </p:txBody>
      </p:sp>
      <p:graphicFrame>
        <p:nvGraphicFramePr>
          <p:cNvPr id="2" name="แผนภูมิ 1">
            <a:extLst>
              <a:ext uri="{FF2B5EF4-FFF2-40B4-BE49-F238E27FC236}">
                <a16:creationId xmlns:a16="http://schemas.microsoft.com/office/drawing/2014/main" id="{A1AC7A69-5150-4D42-A672-EA42B2FC86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6764323"/>
              </p:ext>
            </p:extLst>
          </p:nvPr>
        </p:nvGraphicFramePr>
        <p:xfrm>
          <a:off x="8380934" y="1649207"/>
          <a:ext cx="9016824" cy="5916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แผนภูมิ 4">
            <a:extLst>
              <a:ext uri="{FF2B5EF4-FFF2-40B4-BE49-F238E27FC236}">
                <a16:creationId xmlns:a16="http://schemas.microsoft.com/office/drawing/2014/main" id="{0E4FDD86-FD02-AAC2-04FA-ED7131487C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8794662"/>
              </p:ext>
            </p:extLst>
          </p:nvPr>
        </p:nvGraphicFramePr>
        <p:xfrm>
          <a:off x="404266" y="1649207"/>
          <a:ext cx="7490692" cy="5916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5745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รูปภาพ 8" descr="รูปภาพประกอบด้วย ข้อความ, ปลูก, ออกแบบ&#10;&#10;คำอธิบายที่สร้างโดยอัตโนมัติ">
            <a:extLst>
              <a:ext uri="{FF2B5EF4-FFF2-40B4-BE49-F238E27FC236}">
                <a16:creationId xmlns:a16="http://schemas.microsoft.com/office/drawing/2014/main" id="{768D1834-5279-191A-351A-08CFCB76E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0" t="30000" r="37500" b="4445"/>
          <a:stretch/>
        </p:blipFill>
        <p:spPr>
          <a:xfrm>
            <a:off x="6838951" y="2102303"/>
            <a:ext cx="3657600" cy="4495800"/>
          </a:xfrm>
          <a:prstGeom prst="rect">
            <a:avLst/>
          </a:prstGeom>
        </p:spPr>
      </p:pic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0BC1FD72-4FC0-7459-F3D8-DE2990965B41}"/>
              </a:ext>
            </a:extLst>
          </p:cNvPr>
          <p:cNvSpPr/>
          <p:nvPr/>
        </p:nvSpPr>
        <p:spPr>
          <a:xfrm>
            <a:off x="6596062" y="6515100"/>
            <a:ext cx="216693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ด้านคน</a:t>
            </a:r>
          </a:p>
        </p:txBody>
      </p:sp>
      <p:sp>
        <p:nvSpPr>
          <p:cNvPr id="11" name="สี่เหลี่ยมผืนผ้า: มุมมน 10">
            <a:extLst>
              <a:ext uri="{FF2B5EF4-FFF2-40B4-BE49-F238E27FC236}">
                <a16:creationId xmlns:a16="http://schemas.microsoft.com/office/drawing/2014/main" id="{B5EED61E-1D50-6FAC-EF18-D99740502C2F}"/>
              </a:ext>
            </a:extLst>
          </p:cNvPr>
          <p:cNvSpPr/>
          <p:nvPr/>
        </p:nvSpPr>
        <p:spPr>
          <a:xfrm>
            <a:off x="7581900" y="7278460"/>
            <a:ext cx="2495550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ระบบที่เกี่ยวข้อง</a:t>
            </a:r>
          </a:p>
        </p:txBody>
      </p:sp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CFA17B1D-4589-58FD-050D-F2051856F6EA}"/>
              </a:ext>
            </a:extLst>
          </p:cNvPr>
          <p:cNvSpPr/>
          <p:nvPr/>
        </p:nvSpPr>
        <p:spPr>
          <a:xfrm>
            <a:off x="8839200" y="6515100"/>
            <a:ext cx="2383631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สภาพแวดล้อม</a:t>
            </a:r>
          </a:p>
        </p:txBody>
      </p:sp>
      <p:sp>
        <p:nvSpPr>
          <p:cNvPr id="13" name="สี่เหลี่ยมผืนผ้า: มุมมน 12">
            <a:extLst>
              <a:ext uri="{FF2B5EF4-FFF2-40B4-BE49-F238E27FC236}">
                <a16:creationId xmlns:a16="http://schemas.microsoft.com/office/drawing/2014/main" id="{8F64E8F0-C362-FE4E-2591-6FE6D651E454}"/>
              </a:ext>
            </a:extLst>
          </p:cNvPr>
          <p:cNvSpPr/>
          <p:nvPr/>
        </p:nvSpPr>
        <p:spPr>
          <a:xfrm>
            <a:off x="7620000" y="5753100"/>
            <a:ext cx="2383631" cy="533400"/>
          </a:xfrm>
          <a:prstGeom prst="roundRect">
            <a:avLst/>
          </a:prstGeom>
          <a:solidFill>
            <a:srgbClr val="FF0000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สาเหตุ</a:t>
            </a:r>
          </a:p>
        </p:txBody>
      </p:sp>
      <p:sp>
        <p:nvSpPr>
          <p:cNvPr id="14" name="สี่เหลี่ยมผืนผ้า: มุมมน 13">
            <a:extLst>
              <a:ext uri="{FF2B5EF4-FFF2-40B4-BE49-F238E27FC236}">
                <a16:creationId xmlns:a16="http://schemas.microsoft.com/office/drawing/2014/main" id="{21968557-4CF3-14B3-4C7F-A33D20854D92}"/>
              </a:ext>
            </a:extLst>
          </p:cNvPr>
          <p:cNvSpPr/>
          <p:nvPr/>
        </p:nvSpPr>
        <p:spPr>
          <a:xfrm>
            <a:off x="7620000" y="3314700"/>
            <a:ext cx="2383631" cy="533400"/>
          </a:xfrm>
          <a:prstGeom prst="roundRect">
            <a:avLst/>
          </a:prstGeom>
          <a:solidFill>
            <a:srgbClr val="FF0000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ผลกระทบ</a:t>
            </a:r>
          </a:p>
        </p:txBody>
      </p:sp>
      <p:sp>
        <p:nvSpPr>
          <p:cNvPr id="15" name="สี่เหลี่ยมผืนผ้า: มุมมน 14">
            <a:extLst>
              <a:ext uri="{FF2B5EF4-FFF2-40B4-BE49-F238E27FC236}">
                <a16:creationId xmlns:a16="http://schemas.microsoft.com/office/drawing/2014/main" id="{DBD8E68A-52DF-96BD-AED1-1FEB53333678}"/>
              </a:ext>
            </a:extLst>
          </p:cNvPr>
          <p:cNvSpPr/>
          <p:nvPr/>
        </p:nvSpPr>
        <p:spPr>
          <a:xfrm>
            <a:off x="7029451" y="4608740"/>
            <a:ext cx="3467100" cy="533400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อุบัติเหตุจราจรเพิ่มขึ้น</a:t>
            </a:r>
          </a:p>
        </p:txBody>
      </p:sp>
      <p:sp>
        <p:nvSpPr>
          <p:cNvPr id="16" name="สี่เหลี่ยมผืนผ้า: มุมมน 15">
            <a:extLst>
              <a:ext uri="{FF2B5EF4-FFF2-40B4-BE49-F238E27FC236}">
                <a16:creationId xmlns:a16="http://schemas.microsoft.com/office/drawing/2014/main" id="{50F2A724-DA9E-4694-D8B4-FDC717B5CFF5}"/>
              </a:ext>
            </a:extLst>
          </p:cNvPr>
          <p:cNvSpPr/>
          <p:nvPr/>
        </p:nvSpPr>
        <p:spPr>
          <a:xfrm>
            <a:off x="10496550" y="2781300"/>
            <a:ext cx="2383631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เศรษฐกิจ</a:t>
            </a:r>
          </a:p>
        </p:txBody>
      </p:sp>
      <p:sp>
        <p:nvSpPr>
          <p:cNvPr id="17" name="สี่เหลี่ยมผืนผ้า: มุมมน 16">
            <a:extLst>
              <a:ext uri="{FF2B5EF4-FFF2-40B4-BE49-F238E27FC236}">
                <a16:creationId xmlns:a16="http://schemas.microsoft.com/office/drawing/2014/main" id="{D5D7FECB-BCCB-F278-A444-083A4831209A}"/>
              </a:ext>
            </a:extLst>
          </p:cNvPr>
          <p:cNvSpPr/>
          <p:nvPr/>
        </p:nvSpPr>
        <p:spPr>
          <a:xfrm>
            <a:off x="9144000" y="1786619"/>
            <a:ext cx="2383631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สังคม</a:t>
            </a:r>
          </a:p>
        </p:txBody>
      </p:sp>
      <p:sp>
        <p:nvSpPr>
          <p:cNvPr id="18" name="สี่เหลี่ยมผืนผ้า: มุมมน 17">
            <a:extLst>
              <a:ext uri="{FF2B5EF4-FFF2-40B4-BE49-F238E27FC236}">
                <a16:creationId xmlns:a16="http://schemas.microsoft.com/office/drawing/2014/main" id="{948C56B5-85A1-470D-157E-4FB2EC50CAAF}"/>
              </a:ext>
            </a:extLst>
          </p:cNvPr>
          <p:cNvSpPr/>
          <p:nvPr/>
        </p:nvSpPr>
        <p:spPr>
          <a:xfrm>
            <a:off x="5922169" y="1825400"/>
            <a:ext cx="2383631" cy="533400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ครอบครัว</a:t>
            </a:r>
          </a:p>
        </p:txBody>
      </p:sp>
      <p:sp>
        <p:nvSpPr>
          <p:cNvPr id="19" name="สี่เหลี่ยมผืนผ้า: มุมมน 18">
            <a:extLst>
              <a:ext uri="{FF2B5EF4-FFF2-40B4-BE49-F238E27FC236}">
                <a16:creationId xmlns:a16="http://schemas.microsoft.com/office/drawing/2014/main" id="{4240F2A8-4409-3A0E-D230-BDFD5BF1A7AB}"/>
              </a:ext>
            </a:extLst>
          </p:cNvPr>
          <p:cNvSpPr/>
          <p:nvPr/>
        </p:nvSpPr>
        <p:spPr>
          <a:xfrm>
            <a:off x="4743450" y="2856140"/>
            <a:ext cx="2383631" cy="533400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สุขภาพ</a:t>
            </a:r>
          </a:p>
        </p:txBody>
      </p:sp>
      <p:sp>
        <p:nvSpPr>
          <p:cNvPr id="22" name="สี่เหลี่ยมผืนผ้า: มุมมน 21">
            <a:extLst>
              <a:ext uri="{FF2B5EF4-FFF2-40B4-BE49-F238E27FC236}">
                <a16:creationId xmlns:a16="http://schemas.microsoft.com/office/drawing/2014/main" id="{97E370BF-2068-5712-758B-22B82D8F268B}"/>
              </a:ext>
            </a:extLst>
          </p:cNvPr>
          <p:cNvSpPr/>
          <p:nvPr/>
        </p:nvSpPr>
        <p:spPr>
          <a:xfrm>
            <a:off x="13234308" y="2102303"/>
            <a:ext cx="4817270" cy="18546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ต้นทุนทางสังคม 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58.1%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1.47 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ล้านบาท)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ประกอบด้วย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ค่ารักษาพยาบาล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การสูญเสียผลผลิต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ค่าใช้จ่ายในครอบครัว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รวมต้นทุนทางสังคม</a:t>
            </a:r>
          </a:p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สี่เหลี่ยมผืนผ้า: มุมมน 22">
            <a:extLst>
              <a:ext uri="{FF2B5EF4-FFF2-40B4-BE49-F238E27FC236}">
                <a16:creationId xmlns:a16="http://schemas.microsoft.com/office/drawing/2014/main" id="{83DDB892-0219-08DA-5D94-0DF5852C711A}"/>
              </a:ext>
            </a:extLst>
          </p:cNvPr>
          <p:cNvSpPr/>
          <p:nvPr/>
        </p:nvSpPr>
        <p:spPr>
          <a:xfrm>
            <a:off x="11506200" y="6057900"/>
            <a:ext cx="5272089" cy="1423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ถนนสายหลัก กม.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 – 12 : 57.1%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แสงสว่างไม่เพียงพอ (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18.00 – 24.00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น.)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38.1%</a:t>
            </a:r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จุดโค้งและทางแยกที่มองไม่เห็น</a:t>
            </a:r>
          </a:p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สี่เหลี่ยมผืนผ้า: มุมมน 24">
            <a:extLst>
              <a:ext uri="{FF2B5EF4-FFF2-40B4-BE49-F238E27FC236}">
                <a16:creationId xmlns:a16="http://schemas.microsoft.com/office/drawing/2014/main" id="{867D23D8-F0D1-E2C0-A898-C556FCC0D823}"/>
              </a:ext>
            </a:extLst>
          </p:cNvPr>
          <p:cNvSpPr/>
          <p:nvPr/>
        </p:nvSpPr>
        <p:spPr>
          <a:xfrm>
            <a:off x="10820400" y="4162211"/>
            <a:ext cx="2646306" cy="1423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อุบัติเหตุจราจรเพิ่มขึ้น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2566 : 16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ครั้ง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2567 : 21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ครั้ง</a:t>
            </a:r>
          </a:p>
          <a:p>
            <a:pPr algn="l"/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31.3%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(สูง)</a:t>
            </a:r>
          </a:p>
        </p:txBody>
      </p:sp>
      <p:sp>
        <p:nvSpPr>
          <p:cNvPr id="26" name="สี่เหลี่ยมผืนผ้า: มุมมน 25">
            <a:extLst>
              <a:ext uri="{FF2B5EF4-FFF2-40B4-BE49-F238E27FC236}">
                <a16:creationId xmlns:a16="http://schemas.microsoft.com/office/drawing/2014/main" id="{4CEE0994-1E22-3FCD-5157-810A716321D4}"/>
              </a:ext>
            </a:extLst>
          </p:cNvPr>
          <p:cNvSpPr/>
          <p:nvPr/>
        </p:nvSpPr>
        <p:spPr>
          <a:xfrm>
            <a:off x="11930445" y="1056355"/>
            <a:ext cx="6281355" cy="9490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วัยทำงานลดลง (กลุ่มอายุ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– 29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ปี) 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42.9%</a:t>
            </a:r>
            <a:endParaRPr lang="th-TH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เพิ่มภาระงานในระบบบริการสุขภาพ</a:t>
            </a:r>
          </a:p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สี่เหลี่ยมผืนผ้า: มุมมน 26">
            <a:extLst>
              <a:ext uri="{FF2B5EF4-FFF2-40B4-BE49-F238E27FC236}">
                <a16:creationId xmlns:a16="http://schemas.microsoft.com/office/drawing/2014/main" id="{F01F67CD-A68D-FA31-B468-A115B7B6F9CE}"/>
              </a:ext>
            </a:extLst>
          </p:cNvPr>
          <p:cNvSpPr/>
          <p:nvPr/>
        </p:nvSpPr>
        <p:spPr>
          <a:xfrm>
            <a:off x="5605844" y="800100"/>
            <a:ext cx="6281356" cy="6029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คดีความ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เรียกร้องค่าเสียหายเกิดความขัดแย้งในครอบครัว</a:t>
            </a:r>
          </a:p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4046A51A-4F13-B317-1816-F7FA82A1A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2366" y="110074"/>
            <a:ext cx="793016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4800" spc="-210" dirty="0" err="1">
                <a:solidFill>
                  <a:srgbClr val="003399"/>
                </a:solidFill>
                <a:latin typeface="+mj-lt"/>
              </a:rPr>
              <a:t>วิเ</a:t>
            </a:r>
            <a:r>
              <a:rPr lang="th-TH" sz="4800" spc="-210" dirty="0">
                <a:solidFill>
                  <a:srgbClr val="003399"/>
                </a:solidFill>
                <a:latin typeface="+mj-lt"/>
              </a:rPr>
              <a:t>ครา</a:t>
            </a:r>
            <a:r>
              <a:rPr lang="th-TH" sz="4800" spc="-210" dirty="0" err="1">
                <a:solidFill>
                  <a:srgbClr val="003399"/>
                </a:solidFill>
                <a:latin typeface="+mj-lt"/>
              </a:rPr>
              <a:t>ห์</a:t>
            </a:r>
            <a:r>
              <a:rPr lang="th-TH" sz="4800" spc="-210" dirty="0">
                <a:solidFill>
                  <a:srgbClr val="003399"/>
                </a:solidFill>
                <a:latin typeface="+mj-lt"/>
              </a:rPr>
              <a:t>สถานการณ์ของปัญหา</a:t>
            </a:r>
            <a:endParaRPr sz="4800" dirty="0">
              <a:solidFill>
                <a:srgbClr val="003399"/>
              </a:solidFill>
              <a:latin typeface="+mj-lt"/>
            </a:endParaRPr>
          </a:p>
        </p:txBody>
      </p:sp>
      <p:sp>
        <p:nvSpPr>
          <p:cNvPr id="29" name="สี่เหลี่ยมผืนผ้า: มุมมน 28">
            <a:extLst>
              <a:ext uri="{FF2B5EF4-FFF2-40B4-BE49-F238E27FC236}">
                <a16:creationId xmlns:a16="http://schemas.microsoft.com/office/drawing/2014/main" id="{9F9B8CB5-0DDF-AFFF-60CB-EFAD31BE63A7}"/>
              </a:ext>
            </a:extLst>
          </p:cNvPr>
          <p:cNvSpPr/>
          <p:nvPr/>
        </p:nvSpPr>
        <p:spPr>
          <a:xfrm>
            <a:off x="2215386" y="896031"/>
            <a:ext cx="2646306" cy="1423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จำนวนผู้บาดเจ็บ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2566 : 15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2567 : 20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</a:t>
            </a:r>
          </a:p>
          <a:p>
            <a:pPr algn="l"/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33.3%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(สูง)</a:t>
            </a:r>
          </a:p>
        </p:txBody>
      </p:sp>
      <p:sp>
        <p:nvSpPr>
          <p:cNvPr id="30" name="สี่เหลี่ยมผืนผ้า: มุมมน 29">
            <a:extLst>
              <a:ext uri="{FF2B5EF4-FFF2-40B4-BE49-F238E27FC236}">
                <a16:creationId xmlns:a16="http://schemas.microsoft.com/office/drawing/2014/main" id="{0B68C1B5-7538-DAFB-2BC8-42DA1A8D09CE}"/>
              </a:ext>
            </a:extLst>
          </p:cNvPr>
          <p:cNvSpPr/>
          <p:nvPr/>
        </p:nvSpPr>
        <p:spPr>
          <a:xfrm>
            <a:off x="806080" y="2400300"/>
            <a:ext cx="3384920" cy="1423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จำนวนผู้บาดเจ็บรุนแรง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2566 : 3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2567 : 5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</a:t>
            </a:r>
          </a:p>
          <a:p>
            <a:pPr algn="l"/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66.7%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(เพิ่มขึ้นมาก)</a:t>
            </a:r>
          </a:p>
        </p:txBody>
      </p:sp>
      <p:sp>
        <p:nvSpPr>
          <p:cNvPr id="31" name="สี่เหลี่ยมผืนผ้า: มุมมน 30">
            <a:extLst>
              <a:ext uri="{FF2B5EF4-FFF2-40B4-BE49-F238E27FC236}">
                <a16:creationId xmlns:a16="http://schemas.microsoft.com/office/drawing/2014/main" id="{55ACF295-92E2-A84D-F6CC-2369DD1D06F1}"/>
              </a:ext>
            </a:extLst>
          </p:cNvPr>
          <p:cNvSpPr/>
          <p:nvPr/>
        </p:nvSpPr>
        <p:spPr>
          <a:xfrm>
            <a:off x="2215386" y="4138613"/>
            <a:ext cx="2650856" cy="1423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จำนวนผู้เสียชีวิต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2566 : 1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2567 : 1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</a:t>
            </a:r>
          </a:p>
          <a:p>
            <a:pPr algn="l"/>
            <a:r>
              <a:rPr lang="en-US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0.0%</a:t>
            </a:r>
            <a:r>
              <a:rPr lang="th-TH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(คงที่)</a:t>
            </a:r>
          </a:p>
        </p:txBody>
      </p:sp>
      <p:sp>
        <p:nvSpPr>
          <p:cNvPr id="32" name="สี่เหลี่ยมผืนผ้า: มุมมน 31">
            <a:extLst>
              <a:ext uri="{FF2B5EF4-FFF2-40B4-BE49-F238E27FC236}">
                <a16:creationId xmlns:a16="http://schemas.microsoft.com/office/drawing/2014/main" id="{1BDA5CE8-B187-CEA7-EC3F-E369767D0692}"/>
              </a:ext>
            </a:extLst>
          </p:cNvPr>
          <p:cNvSpPr/>
          <p:nvPr/>
        </p:nvSpPr>
        <p:spPr>
          <a:xfrm>
            <a:off x="112940" y="5829300"/>
            <a:ext cx="6287860" cy="18630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เพศ ชาย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หญิง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: 1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อายุ </a:t>
            </a:r>
            <a:r>
              <a:rPr lang="en-US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– 29 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 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42.9%</a:t>
            </a:r>
            <a:endParaRPr lang="th-TH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ไม่สวมหมวกนิรภัย </a:t>
            </a:r>
            <a:r>
              <a:rPr lang="th-TH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37.5%</a:t>
            </a:r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th-TH" sz="1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ขับรถเร็ว </a:t>
            </a:r>
            <a:r>
              <a:rPr kumimoji="0" lang="th-TH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40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.0%</a:t>
            </a:r>
            <a:endParaRPr kumimoji="0" lang="th-TH" sz="1800" b="1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ดื่มสุรา</a:t>
            </a:r>
            <a:r>
              <a:rPr kumimoji="0" lang="th-TH" sz="1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th-TH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33.3%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th-TH" sz="1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ใช้โทรศัพท์ขณะขับ </a:t>
            </a:r>
            <a:r>
              <a:rPr kumimoji="0" lang="th-TH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</a:t>
            </a:r>
            <a:endParaRPr kumimoji="0" lang="th-TH" sz="1800" b="1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สี่เหลี่ยมผืนผ้า: มุมมน 32">
            <a:extLst>
              <a:ext uri="{FF2B5EF4-FFF2-40B4-BE49-F238E27FC236}">
                <a16:creationId xmlns:a16="http://schemas.microsoft.com/office/drawing/2014/main" id="{0CDF6947-4A64-AD9C-8E3D-BE9A3F705B18}"/>
              </a:ext>
            </a:extLst>
          </p:cNvPr>
          <p:cNvSpPr/>
          <p:nvPr/>
        </p:nvSpPr>
        <p:spPr>
          <a:xfrm>
            <a:off x="954200" y="8115802"/>
            <a:ext cx="4495801" cy="10937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สารเสพติด </a:t>
            </a:r>
            <a:r>
              <a:rPr lang="th-TH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4.8% (</a:t>
            </a:r>
            <a:r>
              <a:rPr lang="th-TH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เฝ้าระวัง)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กระท่อม </a:t>
            </a:r>
            <a:r>
              <a:rPr lang="th-TH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เพิ่มขึ้น </a:t>
            </a:r>
            <a:r>
              <a:rPr lang="en-US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4.8% (</a:t>
            </a:r>
            <a:r>
              <a:rPr lang="th-TH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เฝ้าระวัง)</a:t>
            </a:r>
          </a:p>
        </p:txBody>
      </p:sp>
      <p:sp>
        <p:nvSpPr>
          <p:cNvPr id="34" name="สี่เหลี่ยมผืนผ้า: มุมมน 33">
            <a:extLst>
              <a:ext uri="{FF2B5EF4-FFF2-40B4-BE49-F238E27FC236}">
                <a16:creationId xmlns:a16="http://schemas.microsoft.com/office/drawing/2014/main" id="{7CAFFCF5-AB0F-0C57-A8DD-29584BCBDEFD}"/>
              </a:ext>
            </a:extLst>
          </p:cNvPr>
          <p:cNvSpPr/>
          <p:nvPr/>
        </p:nvSpPr>
        <p:spPr>
          <a:xfrm>
            <a:off x="9386209" y="8022770"/>
            <a:ext cx="8665369" cy="1423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ขาดความต่อเนื่องในการพัฒนาศักยภาพของ </a:t>
            </a:r>
            <a:r>
              <a:rPr lang="th-TH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ขาดความสม่ำเสมอในการรายงานจุดเสี่ยง / ระบบข้อมูลการรายงาน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ขาดความต่อเนื่องในการจัดกิจกรรมสร้างความตระหนักและปรับพฤติกรรมเสี่ยง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การประเมินศักยภาพของ </a:t>
            </a:r>
            <a:r>
              <a:rPr lang="th-TH" b="1" dirty="0" err="1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b="1" dirty="0">
                <a:solidFill>
                  <a:srgbClr val="00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</a:t>
            </a:r>
          </a:p>
          <a:p>
            <a:pPr algn="l"/>
            <a:endParaRPr lang="th-TH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" name="ตัวเชื่อมต่อ: หักมุม 6">
            <a:extLst>
              <a:ext uri="{FF2B5EF4-FFF2-40B4-BE49-F238E27FC236}">
                <a16:creationId xmlns:a16="http://schemas.microsoft.com/office/drawing/2014/main" id="{D5FEE0FE-58A5-F945-E159-AE0081784DB0}"/>
              </a:ext>
            </a:extLst>
          </p:cNvPr>
          <p:cNvCxnSpPr>
            <a:cxnSpLocks/>
          </p:cNvCxnSpPr>
          <p:nvPr/>
        </p:nvCxnSpPr>
        <p:spPr>
          <a:xfrm flipV="1">
            <a:off x="11560586" y="1530905"/>
            <a:ext cx="402814" cy="522414"/>
          </a:xfrm>
          <a:prstGeom prst="bentConnector3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ตัวเชื่อมต่อ: หักมุม 7">
            <a:extLst>
              <a:ext uri="{FF2B5EF4-FFF2-40B4-BE49-F238E27FC236}">
                <a16:creationId xmlns:a16="http://schemas.microsoft.com/office/drawing/2014/main" id="{DCA87A5E-BE57-5D47-6F45-1FEDEDEB2144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12880181" y="3029629"/>
            <a:ext cx="354127" cy="126493"/>
          </a:xfrm>
          <a:prstGeom prst="bentConnector3">
            <a:avLst>
              <a:gd name="adj1" fmla="val 50000"/>
            </a:avLst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ลูกศรเชื่อมต่อแบบตรง 40">
            <a:extLst>
              <a:ext uri="{FF2B5EF4-FFF2-40B4-BE49-F238E27FC236}">
                <a16:creationId xmlns:a16="http://schemas.microsoft.com/office/drawing/2014/main" id="{39AD3689-B100-9ACF-2541-330777F2CD13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 flipV="1">
            <a:off x="10496551" y="4874205"/>
            <a:ext cx="323849" cy="1235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ลูกศรเชื่อมต่อแบบตรง 41">
            <a:extLst>
              <a:ext uri="{FF2B5EF4-FFF2-40B4-BE49-F238E27FC236}">
                <a16:creationId xmlns:a16="http://schemas.microsoft.com/office/drawing/2014/main" id="{6B384644-D5B5-A31B-A69C-E431CF8E9101}"/>
              </a:ext>
            </a:extLst>
          </p:cNvPr>
          <p:cNvCxnSpPr/>
          <p:nvPr/>
        </p:nvCxnSpPr>
        <p:spPr>
          <a:xfrm flipV="1">
            <a:off x="11236737" y="6785945"/>
            <a:ext cx="323849" cy="1235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ลูกศรเชื่อมต่อแบบตรง 46">
            <a:extLst>
              <a:ext uri="{FF2B5EF4-FFF2-40B4-BE49-F238E27FC236}">
                <a16:creationId xmlns:a16="http://schemas.microsoft.com/office/drawing/2014/main" id="{41515630-99E5-25E9-FFA6-5830443B9AC0}"/>
              </a:ext>
            </a:extLst>
          </p:cNvPr>
          <p:cNvCxnSpPr>
            <a:cxnSpLocks/>
          </p:cNvCxnSpPr>
          <p:nvPr/>
        </p:nvCxnSpPr>
        <p:spPr>
          <a:xfrm flipH="1">
            <a:off x="4146920" y="3122840"/>
            <a:ext cx="596529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ลูกศรเชื่อมต่อแบบตรง 49">
            <a:extLst>
              <a:ext uri="{FF2B5EF4-FFF2-40B4-BE49-F238E27FC236}">
                <a16:creationId xmlns:a16="http://schemas.microsoft.com/office/drawing/2014/main" id="{368B1477-6F02-37F6-A618-1AA2E7DCA07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374304" y="6781800"/>
            <a:ext cx="221758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ตัวเชื่อมต่อ: หักมุม 56">
            <a:extLst>
              <a:ext uri="{FF2B5EF4-FFF2-40B4-BE49-F238E27FC236}">
                <a16:creationId xmlns:a16="http://schemas.microsoft.com/office/drawing/2014/main" id="{A48333AE-3C85-14DF-92EC-5AA44542D89A}"/>
              </a:ext>
            </a:extLst>
          </p:cNvPr>
          <p:cNvCxnSpPr>
            <a:cxnSpLocks/>
            <a:stCxn id="18" idx="0"/>
            <a:endCxn id="27" idx="2"/>
          </p:cNvCxnSpPr>
          <p:nvPr/>
        </p:nvCxnSpPr>
        <p:spPr>
          <a:xfrm rot="5400000" flipH="1" flipV="1">
            <a:off x="7719064" y="797943"/>
            <a:ext cx="422378" cy="1632537"/>
          </a:xfrm>
          <a:prstGeom prst="bentConnector3">
            <a:avLst>
              <a:gd name="adj1" fmla="val 50000"/>
            </a:avLst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ตัวเชื่อมต่อ: หักมุม 59">
            <a:extLst>
              <a:ext uri="{FF2B5EF4-FFF2-40B4-BE49-F238E27FC236}">
                <a16:creationId xmlns:a16="http://schemas.microsoft.com/office/drawing/2014/main" id="{94A06E04-D7D3-8EB0-7001-466DDB99F767}"/>
              </a:ext>
            </a:extLst>
          </p:cNvPr>
          <p:cNvCxnSpPr>
            <a:cxnSpLocks/>
            <a:endCxn id="29" idx="3"/>
          </p:cNvCxnSpPr>
          <p:nvPr/>
        </p:nvCxnSpPr>
        <p:spPr>
          <a:xfrm rot="16200000" flipV="1">
            <a:off x="4563997" y="1905721"/>
            <a:ext cx="1272287" cy="676896"/>
          </a:xfrm>
          <a:prstGeom prst="bentConnector2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ตัวเชื่อมต่อ: หักมุม 62">
            <a:extLst>
              <a:ext uri="{FF2B5EF4-FFF2-40B4-BE49-F238E27FC236}">
                <a16:creationId xmlns:a16="http://schemas.microsoft.com/office/drawing/2014/main" id="{154FD24D-C1FA-E505-6C4A-98FD32C706C3}"/>
              </a:ext>
            </a:extLst>
          </p:cNvPr>
          <p:cNvCxnSpPr>
            <a:cxnSpLocks/>
            <a:endCxn id="31" idx="3"/>
          </p:cNvCxnSpPr>
          <p:nvPr/>
        </p:nvCxnSpPr>
        <p:spPr>
          <a:xfrm rot="5400000">
            <a:off x="4496703" y="3777576"/>
            <a:ext cx="1442571" cy="703491"/>
          </a:xfrm>
          <a:prstGeom prst="bentConnector2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ตัวเชื่อมต่อ: หักมุม 65">
            <a:extLst>
              <a:ext uri="{FF2B5EF4-FFF2-40B4-BE49-F238E27FC236}">
                <a16:creationId xmlns:a16="http://schemas.microsoft.com/office/drawing/2014/main" id="{7E68FF86-5D60-A85B-1EDD-907BAFE47703}"/>
              </a:ext>
            </a:extLst>
          </p:cNvPr>
          <p:cNvCxnSpPr>
            <a:cxnSpLocks/>
            <a:endCxn id="34" idx="1"/>
          </p:cNvCxnSpPr>
          <p:nvPr/>
        </p:nvCxnSpPr>
        <p:spPr>
          <a:xfrm rot="16200000" flipH="1">
            <a:off x="8658249" y="8006804"/>
            <a:ext cx="881526" cy="574394"/>
          </a:xfrm>
          <a:prstGeom prst="bentConnector2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ตัวเชื่อมต่อ: หักมุม 74">
            <a:extLst>
              <a:ext uri="{FF2B5EF4-FFF2-40B4-BE49-F238E27FC236}">
                <a16:creationId xmlns:a16="http://schemas.microsoft.com/office/drawing/2014/main" id="{C3A16C05-778E-7167-6AAB-EECDE6899717}"/>
              </a:ext>
            </a:extLst>
          </p:cNvPr>
          <p:cNvCxnSpPr>
            <a:cxnSpLocks/>
            <a:endCxn id="33" idx="3"/>
          </p:cNvCxnSpPr>
          <p:nvPr/>
        </p:nvCxnSpPr>
        <p:spPr>
          <a:xfrm rot="5400000">
            <a:off x="5432628" y="7065873"/>
            <a:ext cx="1614196" cy="1579450"/>
          </a:xfrm>
          <a:prstGeom prst="bentConnector2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63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30" y="4031291"/>
            <a:ext cx="133350" cy="1333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89255" y="3769798"/>
            <a:ext cx="7277624" cy="371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lang="th-TH" sz="295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มีคำสั่งแต่งตั้งคณะกรรมการ </a:t>
            </a:r>
            <a:r>
              <a:rPr lang="th-TH" sz="2950" spc="-6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ถ.อปท.โพนเขวา ครอบคลุมทุกภาคส่วน</a:t>
            </a:r>
          </a:p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lang="th-TH" sz="295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การบูรณาการการดำเนินงานร่วมกับหน่วยงานภาคีเครือข่ายในพื้นที่</a:t>
            </a:r>
          </a:p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lang="th-TH" sz="295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การมีส่วนร่วมในการดำเนินการแก้ไขจุดเสี่ยง</a:t>
            </a:r>
          </a:p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lang="th-TH" sz="295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หน่วยงานภาคีเครือข่ายในระดับตำบลให้ความร่วมมือ เช่น ด่านชุมชน ด่านชุมชนปากหวาน</a:t>
            </a:r>
            <a:endParaRPr sz="2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30" y="5079041"/>
            <a:ext cx="133350" cy="1333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30" y="6134100"/>
            <a:ext cx="133350" cy="1333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30" y="6686551"/>
            <a:ext cx="133350" cy="1333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3336" y="4031291"/>
            <a:ext cx="133350" cy="1333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1093862" y="3769798"/>
            <a:ext cx="6200140" cy="37197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  <a:tabLst>
                <a:tab pos="3020060" algn="l"/>
              </a:tabLst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ขาดความต่อเนื่องในการพัฒนาศักยภาพของ 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</a:t>
            </a:r>
          </a:p>
          <a:p>
            <a:pPr marL="12700" marR="5080">
              <a:lnSpc>
                <a:spcPct val="116500"/>
              </a:lnSpc>
              <a:spcBef>
                <a:spcPts val="100"/>
              </a:spcBef>
              <a:tabLst>
                <a:tab pos="3020060" algn="l"/>
              </a:tabLst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ขาดความสม่ำเสมอในการรายงานจุดเสี่ยง / ระบบข้อมูลการรายงาน</a:t>
            </a:r>
          </a:p>
          <a:p>
            <a:pPr marL="12700" marR="5080">
              <a:lnSpc>
                <a:spcPct val="116500"/>
              </a:lnSpc>
              <a:spcBef>
                <a:spcPts val="100"/>
              </a:spcBef>
              <a:tabLst>
                <a:tab pos="3020060" algn="l"/>
              </a:tabLst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ขาดความต่อเนื่องในการจัดกิจกรรมสร้างความตระหนักและปรับพฤติกรรมเสี่ยง</a:t>
            </a:r>
          </a:p>
          <a:p>
            <a:pPr marL="12700" marR="5080">
              <a:lnSpc>
                <a:spcPct val="116500"/>
              </a:lnSpc>
              <a:spcBef>
                <a:spcPts val="100"/>
              </a:spcBef>
              <a:tabLst>
                <a:tab pos="3020060" algn="l"/>
              </a:tabLst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การประเมินศักยภาพของ 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</a:t>
            </a:r>
            <a:endParaRPr sz="2950" dirty="0">
              <a:latin typeface="Microsoft Sans Serif"/>
              <a:cs typeface="Microsoft Sans Serif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3336" y="5079041"/>
            <a:ext cx="133350" cy="1333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3336" y="6126791"/>
            <a:ext cx="133350" cy="1333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3336" y="7174541"/>
            <a:ext cx="133350" cy="133349"/>
          </a:xfrm>
          <a:prstGeom prst="rect">
            <a:avLst/>
          </a:prstGeom>
        </p:spPr>
      </p:pic>
      <p:grpSp>
        <p:nvGrpSpPr>
          <p:cNvPr id="26" name="object 6">
            <a:extLst>
              <a:ext uri="{FF2B5EF4-FFF2-40B4-BE49-F238E27FC236}">
                <a16:creationId xmlns:a16="http://schemas.microsoft.com/office/drawing/2014/main" id="{EB23C5DC-7AAF-E9B5-4051-8ADD1859999A}"/>
              </a:ext>
            </a:extLst>
          </p:cNvPr>
          <p:cNvGrpSpPr/>
          <p:nvPr/>
        </p:nvGrpSpPr>
        <p:grpSpPr>
          <a:xfrm>
            <a:off x="1295400" y="1562100"/>
            <a:ext cx="6264777" cy="1648187"/>
            <a:chOff x="6193763" y="2115089"/>
            <a:chExt cx="6264777" cy="1648187"/>
          </a:xfrm>
        </p:grpSpPr>
        <p:pic>
          <p:nvPicPr>
            <p:cNvPr id="27" name="object 7">
              <a:extLst>
                <a:ext uri="{FF2B5EF4-FFF2-40B4-BE49-F238E27FC236}">
                  <a16:creationId xmlns:a16="http://schemas.microsoft.com/office/drawing/2014/main" id="{2C8CC4BA-919B-DC61-B43F-D6D0DE65D44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3763" y="2115089"/>
              <a:ext cx="2796893" cy="1648187"/>
            </a:xfrm>
            <a:prstGeom prst="rect">
              <a:avLst/>
            </a:prstGeom>
          </p:spPr>
        </p:pic>
        <p:pic>
          <p:nvPicPr>
            <p:cNvPr id="28" name="object 8">
              <a:extLst>
                <a:ext uri="{FF2B5EF4-FFF2-40B4-BE49-F238E27FC236}">
                  <a16:creationId xmlns:a16="http://schemas.microsoft.com/office/drawing/2014/main" id="{CBF076AF-624C-B3CF-CCBF-693503F2FF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851" y="2115089"/>
              <a:ext cx="6054689" cy="1648187"/>
            </a:xfrm>
            <a:prstGeom prst="rect">
              <a:avLst/>
            </a:prstGeom>
          </p:spPr>
        </p:pic>
      </p:grpSp>
      <p:grpSp>
        <p:nvGrpSpPr>
          <p:cNvPr id="29" name="object 6">
            <a:extLst>
              <a:ext uri="{FF2B5EF4-FFF2-40B4-BE49-F238E27FC236}">
                <a16:creationId xmlns:a16="http://schemas.microsoft.com/office/drawing/2014/main" id="{CAFCB9D2-B73A-8325-AD68-715ADD68481D}"/>
              </a:ext>
            </a:extLst>
          </p:cNvPr>
          <p:cNvGrpSpPr/>
          <p:nvPr/>
        </p:nvGrpSpPr>
        <p:grpSpPr>
          <a:xfrm>
            <a:off x="10727690" y="1562100"/>
            <a:ext cx="6264910" cy="1648460"/>
            <a:chOff x="6193763" y="2115089"/>
            <a:chExt cx="6264910" cy="1648460"/>
          </a:xfrm>
        </p:grpSpPr>
        <p:pic>
          <p:nvPicPr>
            <p:cNvPr id="30" name="object 7">
              <a:extLst>
                <a:ext uri="{FF2B5EF4-FFF2-40B4-BE49-F238E27FC236}">
                  <a16:creationId xmlns:a16="http://schemas.microsoft.com/office/drawing/2014/main" id="{66AA72BF-4A72-FF16-C883-3637F1029AB6}"/>
                </a:ext>
              </a:extLst>
            </p:cNvPr>
            <p:cNvPicPr/>
            <p:nvPr/>
          </p:nvPicPr>
          <p:blipFill>
            <a:blip r:embed="rId4" cstate="print"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6193763" y="2115089"/>
              <a:ext cx="2796893" cy="1648187"/>
            </a:xfrm>
            <a:prstGeom prst="rect">
              <a:avLst/>
            </a:prstGeom>
          </p:spPr>
        </p:pic>
        <p:pic>
          <p:nvPicPr>
            <p:cNvPr id="31" name="object 8">
              <a:extLst>
                <a:ext uri="{FF2B5EF4-FFF2-40B4-BE49-F238E27FC236}">
                  <a16:creationId xmlns:a16="http://schemas.microsoft.com/office/drawing/2014/main" id="{83F66342-7F70-92A0-F88C-4926152C7237}"/>
                </a:ext>
              </a:extLst>
            </p:cNvPr>
            <p:cNvPicPr/>
            <p:nvPr/>
          </p:nvPicPr>
          <p:blipFill>
            <a:blip r:embed="rId5" cstate="print"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6403851" y="2115089"/>
              <a:ext cx="6054689" cy="1648187"/>
            </a:xfrm>
            <a:prstGeom prst="rect">
              <a:avLst/>
            </a:prstGeom>
          </p:spPr>
        </p:pic>
      </p:grpSp>
      <p:sp>
        <p:nvSpPr>
          <p:cNvPr id="32" name="object 9">
            <a:extLst>
              <a:ext uri="{FF2B5EF4-FFF2-40B4-BE49-F238E27FC236}">
                <a16:creationId xmlns:a16="http://schemas.microsoft.com/office/drawing/2014/main" id="{B72E4902-86E5-A4FC-53FB-22AF303C2CB1}"/>
              </a:ext>
            </a:extLst>
          </p:cNvPr>
          <p:cNvSpPr txBox="1"/>
          <p:nvPr/>
        </p:nvSpPr>
        <p:spPr>
          <a:xfrm>
            <a:off x="3429000" y="2075531"/>
            <a:ext cx="1905000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h-TH" sz="395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จุดแข็ง</a:t>
            </a:r>
            <a:endParaRPr sz="3950" b="1" dirty="0">
              <a:latin typeface="Microsoft Sans Serif"/>
              <a:cs typeface="Microsoft Sans Serif"/>
            </a:endParaRPr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B75329B5-92F3-4A0A-4DED-55E6964DDA5C}"/>
              </a:ext>
            </a:extLst>
          </p:cNvPr>
          <p:cNvSpPr txBox="1"/>
          <p:nvPr/>
        </p:nvSpPr>
        <p:spPr>
          <a:xfrm>
            <a:off x="13012622" y="2075531"/>
            <a:ext cx="1905000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h-TH" sz="395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จุดอ่อน</a:t>
            </a:r>
            <a:endParaRPr sz="3950" b="1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CA0C956E-6ABF-EC7E-1E68-16AD5732BD9F}"/>
              </a:ext>
            </a:extLst>
          </p:cNvPr>
          <p:cNvSpPr txBox="1">
            <a:spLocks/>
          </p:cNvSpPr>
          <p:nvPr/>
        </p:nvSpPr>
        <p:spPr>
          <a:xfrm>
            <a:off x="3886200" y="190500"/>
            <a:ext cx="13944600" cy="4117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100"/>
              </a:spcBef>
              <a:tabLst>
                <a:tab pos="5086985" algn="l"/>
              </a:tabLst>
            </a:pPr>
            <a:r>
              <a:rPr lang="th-TH" sz="2000" b="1" dirty="0">
                <a:solidFill>
                  <a:srgbClr val="00339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บันไดผลลัพธ์โครงการเสริมสร้างศูนย์ปฏิบัติการความปลอดภัยทางถนนตำบลโพนเขวาเพื่อลดอุบัติเหตุทางถนนอย่างยั่งยืน</a:t>
            </a:r>
            <a:endParaRPr lang="th-TH" sz="2000" b="1" dirty="0">
              <a:solidFill>
                <a:srgbClr val="0033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ounded Rectangle 33">
            <a:extLst>
              <a:ext uri="{FF2B5EF4-FFF2-40B4-BE49-F238E27FC236}">
                <a16:creationId xmlns:a16="http://schemas.microsoft.com/office/drawing/2014/main" id="{366901EE-0469-01BB-911E-F03C7D1362C7}"/>
              </a:ext>
            </a:extLst>
          </p:cNvPr>
          <p:cNvSpPr/>
          <p:nvPr/>
        </p:nvSpPr>
        <p:spPr>
          <a:xfrm>
            <a:off x="1447800" y="4533900"/>
            <a:ext cx="4567764" cy="1524000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เกิดศูนย์ปฏิบัติการความปลอดภัยทางถนน (</a:t>
            </a:r>
            <a:r>
              <a:rPr lang="th-TH" sz="16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ถ.) องค์กรปกครองส่วนท้องถิ่น (อปท.) ที่มีความสามารถในการขับเคลื่อนการจัดการความปลอดภัยทางถนนในตำบล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ounded Rectangle 33">
            <a:extLst>
              <a:ext uri="{FF2B5EF4-FFF2-40B4-BE49-F238E27FC236}">
                <a16:creationId xmlns:a16="http://schemas.microsoft.com/office/drawing/2014/main" id="{E3889953-BBCB-F518-159B-9EDB812D5932}"/>
              </a:ext>
            </a:extLst>
          </p:cNvPr>
          <p:cNvSpPr/>
          <p:nvPr/>
        </p:nvSpPr>
        <p:spPr>
          <a:xfrm>
            <a:off x="1371600" y="6438900"/>
            <a:ext cx="4645376" cy="2713355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C0504D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9558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มีคำสั่งแต่งตั้งคณะทำงาน </a:t>
            </a:r>
            <a:r>
              <a:rPr lang="th-TH" sz="16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 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ทีระบุบทบาทหน้าที่ชัดเจน และมีการประชุมสม่ำเสมออย่างน้อย </a:t>
            </a:r>
            <a:r>
              <a:rPr lang="en-US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เดือนต่อครั้ง 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558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คณะทำงานมีความรู้ความสามารถในการวิเคราะห์ข้อมูลอุบัติเหตุ จุดเสี่ยง และพฤติกรรมเสี่ยง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558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มีแผนปฏิบัติการจัดการความปลอดภัยทางถนนของตำบลที่สอดคล้องกับปัญหาและสถานการณ์จริง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F8614E8C-D4AA-B5D8-FE38-9716B63825FD}"/>
              </a:ext>
            </a:extLst>
          </p:cNvPr>
          <p:cNvSpPr/>
          <p:nvPr/>
        </p:nvSpPr>
        <p:spPr>
          <a:xfrm>
            <a:off x="6239627" y="5753100"/>
            <a:ext cx="3751062" cy="2438400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C0504D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ประชาชนในพื้นที่อย่างน้อยร้อยละ </a:t>
            </a:r>
            <a:r>
              <a:rPr lang="en-US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80 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รับทราบข้อมูลสถานการณ์อุบัติเหตุและจุดเสี่ยงในชุมชน 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มีข้อตกลงร่วมของชุมชนในการแก้ไขจุดเสี่ยงและปรับเปลี่ยนพฤติกรรมเสี่ยง 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ounded Rectangle 33">
            <a:extLst>
              <a:ext uri="{FF2B5EF4-FFF2-40B4-BE49-F238E27FC236}">
                <a16:creationId xmlns:a16="http://schemas.microsoft.com/office/drawing/2014/main" id="{FA4EE286-E82B-4E5C-7545-7F66DF8E608F}"/>
              </a:ext>
            </a:extLst>
          </p:cNvPr>
          <p:cNvSpPr/>
          <p:nvPr/>
        </p:nvSpPr>
        <p:spPr>
          <a:xfrm>
            <a:off x="10193538" y="5325745"/>
            <a:ext cx="3751062" cy="2256155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C0504D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จุดเสี่ยงที่ชุมชนสามารถแก้ไขได้เองได้รับการปรับปรุงอย่างน้อยร้อยละ </a:t>
            </a:r>
            <a:r>
              <a:rPr lang="en-US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8765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มีระบบการติดตามและรายงานผลการแก้ไขจุดเสี่ยงและพฤติกรรมเสี่ยงอย่างต่อเนื่อง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ounded Rectangle 33">
            <a:extLst>
              <a:ext uri="{FF2B5EF4-FFF2-40B4-BE49-F238E27FC236}">
                <a16:creationId xmlns:a16="http://schemas.microsoft.com/office/drawing/2014/main" id="{801853CE-1DA2-6093-08EA-87C42D5F54E4}"/>
              </a:ext>
            </a:extLst>
          </p:cNvPr>
          <p:cNvSpPr/>
          <p:nvPr/>
        </p:nvSpPr>
        <p:spPr>
          <a:xfrm>
            <a:off x="14155938" y="4416108"/>
            <a:ext cx="3751062" cy="2465058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C0504D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อัตราการเสียชีวิตจากอุบัติเหตุทางถนนไม่เกิน </a:t>
            </a:r>
            <a:r>
              <a:rPr lang="en-US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ราย/ปี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จำนวนครั้งของการเกิดอุบัติเหตุในจุดเสี่ยงที่ได้รับการแก้ไขลดลงอย่างน้อยร้อยละ </a:t>
            </a:r>
            <a:r>
              <a:rPr lang="en-US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ounded Rectangle 33">
            <a:extLst>
              <a:ext uri="{FF2B5EF4-FFF2-40B4-BE49-F238E27FC236}">
                <a16:creationId xmlns:a16="http://schemas.microsoft.com/office/drawing/2014/main" id="{1EFD4B7B-34B2-5C36-2E82-C8C255BC4F28}"/>
              </a:ext>
            </a:extLst>
          </p:cNvPr>
          <p:cNvSpPr/>
          <p:nvPr/>
        </p:nvSpPr>
        <p:spPr>
          <a:xfrm>
            <a:off x="1447800" y="1485900"/>
            <a:ext cx="4612850" cy="2854008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45795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ประชุมทบทวนคำสั่ง </a:t>
            </a:r>
            <a:r>
              <a:rPr lang="th-TH" sz="1600" b="1" dirty="0" err="1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 และกำหนดบทบาทหน้าที่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45795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พัฒนาศักยภาพคณะทำงานด้านการวิเคราะห์ข้อมูลอุบัติเหตุ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45795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ประชุมกำหนดแหล่งข้อมูลและวิเคราะห์ข้อมูลอุบัติเหตุย้อนหลัง </a:t>
            </a:r>
            <a:r>
              <a:rPr lang="en-US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ปี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45795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ประชุมจัดทำแผนปฏิบัติการจัดการความปลอดภัยทางถนน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ounded Rectangle 33">
            <a:extLst>
              <a:ext uri="{FF2B5EF4-FFF2-40B4-BE49-F238E27FC236}">
                <a16:creationId xmlns:a16="http://schemas.microsoft.com/office/drawing/2014/main" id="{04F31EE7-08CE-7721-E35B-34AA0BC0D421}"/>
              </a:ext>
            </a:extLst>
          </p:cNvPr>
          <p:cNvSpPr/>
          <p:nvPr/>
        </p:nvSpPr>
        <p:spPr>
          <a:xfrm>
            <a:off x="6211688" y="1181100"/>
            <a:ext cx="3751062" cy="2713355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เวทีคืนข้อมูลและออกแบบการแก้ไขจุดเสี่ยงร่วมกัน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8F61ABD6-FE04-AC6F-2913-DCADA2DA8E4E}"/>
              </a:ext>
            </a:extLst>
          </p:cNvPr>
          <p:cNvSpPr/>
          <p:nvPr/>
        </p:nvSpPr>
        <p:spPr>
          <a:xfrm>
            <a:off x="10193538" y="876300"/>
            <a:ext cx="3751062" cy="2713355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แก้ไขจุดเสี่ยงและสร้างความตระหนักการปรับพฤติกรรม</a:t>
            </a:r>
            <a:endParaRPr lang="en-US" sz="160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33">
            <a:extLst>
              <a:ext uri="{FF2B5EF4-FFF2-40B4-BE49-F238E27FC236}">
                <a16:creationId xmlns:a16="http://schemas.microsoft.com/office/drawing/2014/main" id="{9F0F42C3-9FCE-5CC3-87ED-D1CF6251B4F6}"/>
              </a:ext>
            </a:extLst>
          </p:cNvPr>
          <p:cNvSpPr/>
          <p:nvPr/>
        </p:nvSpPr>
        <p:spPr>
          <a:xfrm>
            <a:off x="14079738" y="723900"/>
            <a:ext cx="3751062" cy="1950484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เก็บข้อมูลติดตามและรายงานผลการดำเนินงาน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th-TH" sz="1600" b="1" dirty="0">
                <a:solidFill>
                  <a:srgbClr val="40404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เวทีแลกเปลี่ยนเรียนรู้และคืนข้อมูลผลการดำเนินงาน</a:t>
            </a:r>
            <a:endParaRPr lang="en-US" sz="1600" dirty="0">
              <a:solidFill>
                <a:srgbClr val="40404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DA04DBF-F820-CD29-FCEA-0FC3B4E1E345}"/>
              </a:ext>
            </a:extLst>
          </p:cNvPr>
          <p:cNvSpPr/>
          <p:nvPr/>
        </p:nvSpPr>
        <p:spPr>
          <a:xfrm>
            <a:off x="409574" y="4712141"/>
            <a:ext cx="658744" cy="1269559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th-TH" sz="1600" b="1" kern="120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ผลลัพธ์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2E52B4B-9ACA-9A03-F233-599E20BD33B9}"/>
              </a:ext>
            </a:extLst>
          </p:cNvPr>
          <p:cNvSpPr/>
          <p:nvPr/>
        </p:nvSpPr>
        <p:spPr>
          <a:xfrm>
            <a:off x="409574" y="2324100"/>
            <a:ext cx="658744" cy="1236289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th-TH" sz="1600" b="1" kern="120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กิจกรรม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9616675-BF6C-9046-0799-3E76CF6F6F06}"/>
              </a:ext>
            </a:extLst>
          </p:cNvPr>
          <p:cNvSpPr/>
          <p:nvPr/>
        </p:nvSpPr>
        <p:spPr>
          <a:xfrm>
            <a:off x="457200" y="7124700"/>
            <a:ext cx="658744" cy="1252924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th-TH" sz="1600" b="1" kern="120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ตัวชี้วัด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F3156CFD-9EFE-192E-B621-B3C95BF933AE}"/>
              </a:ext>
            </a:extLst>
          </p:cNvPr>
          <p:cNvSpPr/>
          <p:nvPr/>
        </p:nvSpPr>
        <p:spPr>
          <a:xfrm>
            <a:off x="6231138" y="4076700"/>
            <a:ext cx="3751062" cy="1260803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ประชาชนมีความรู้และตระหนักถึงสถานการณ์อุบัติเหตุทางถนนจากจุดเสี่ยงในชุมชนตนเอง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ounded Rectangle 33">
            <a:extLst>
              <a:ext uri="{FF2B5EF4-FFF2-40B4-BE49-F238E27FC236}">
                <a16:creationId xmlns:a16="http://schemas.microsoft.com/office/drawing/2014/main" id="{0BE74AEB-1E33-F1A6-22C4-CB6030802124}"/>
              </a:ext>
            </a:extLst>
          </p:cNvPr>
          <p:cNvSpPr/>
          <p:nvPr/>
        </p:nvSpPr>
        <p:spPr>
          <a:xfrm>
            <a:off x="10134600" y="3766174"/>
            <a:ext cx="3751062" cy="1260803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จุดเสี่ยงและพฤติกรรมเสี่ยงของตำบลได้รับการแก้ไขโดยชุมชน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และ</a:t>
            </a:r>
            <a:r>
              <a:rPr lang="th-TH" sz="16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ounded Rectangle 33">
            <a:extLst>
              <a:ext uri="{FF2B5EF4-FFF2-40B4-BE49-F238E27FC236}">
                <a16:creationId xmlns:a16="http://schemas.microsoft.com/office/drawing/2014/main" id="{1F99DD10-CE22-7F0E-7F6B-913DCF42EE66}"/>
              </a:ext>
            </a:extLst>
          </p:cNvPr>
          <p:cNvSpPr/>
          <p:nvPr/>
        </p:nvSpPr>
        <p:spPr>
          <a:xfrm>
            <a:off x="14079738" y="2806054"/>
            <a:ext cx="3751062" cy="1260803"/>
          </a:xfrm>
          <a:prstGeom prst="roundRect">
            <a:avLst/>
          </a:prstGeom>
          <a:solidFill>
            <a:sysClr val="window" lastClr="FFFFFF"/>
          </a:solidFill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h-TH" sz="1600" b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การบาดเจ็บและการเสียชีวิตจากอุบัติเหตุทางถนนลดลง</a:t>
            </a:r>
            <a:endParaRPr lang="en-US" sz="16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Connector 47">
            <a:extLst>
              <a:ext uri="{FF2B5EF4-FFF2-40B4-BE49-F238E27FC236}">
                <a16:creationId xmlns:a16="http://schemas.microsoft.com/office/drawing/2014/main" id="{5E0BA849-DD00-D0EF-ED83-DEB7EA8C4A47}"/>
              </a:ext>
            </a:extLst>
          </p:cNvPr>
          <p:cNvCxnSpPr>
            <a:cxnSpLocks/>
          </p:cNvCxnSpPr>
          <p:nvPr/>
        </p:nvCxnSpPr>
        <p:spPr>
          <a:xfrm>
            <a:off x="1471294" y="6264211"/>
            <a:ext cx="4656223" cy="0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3" name="Straight Connector 42">
            <a:extLst>
              <a:ext uri="{FF2B5EF4-FFF2-40B4-BE49-F238E27FC236}">
                <a16:creationId xmlns:a16="http://schemas.microsoft.com/office/drawing/2014/main" id="{9E9C2564-A936-ACD8-1415-D35F82E22178}"/>
              </a:ext>
            </a:extLst>
          </p:cNvPr>
          <p:cNvCxnSpPr>
            <a:cxnSpLocks/>
          </p:cNvCxnSpPr>
          <p:nvPr/>
        </p:nvCxnSpPr>
        <p:spPr>
          <a:xfrm>
            <a:off x="6127517" y="5600700"/>
            <a:ext cx="0" cy="702768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4" name="Straight Connector 47">
            <a:extLst>
              <a:ext uri="{FF2B5EF4-FFF2-40B4-BE49-F238E27FC236}">
                <a16:creationId xmlns:a16="http://schemas.microsoft.com/office/drawing/2014/main" id="{411AB5A4-6377-530F-283E-DF82916C94DC}"/>
              </a:ext>
            </a:extLst>
          </p:cNvPr>
          <p:cNvCxnSpPr>
            <a:cxnSpLocks/>
          </p:cNvCxnSpPr>
          <p:nvPr/>
        </p:nvCxnSpPr>
        <p:spPr>
          <a:xfrm>
            <a:off x="6127517" y="5600700"/>
            <a:ext cx="3984855" cy="0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5" name="Straight Connector 42">
            <a:extLst>
              <a:ext uri="{FF2B5EF4-FFF2-40B4-BE49-F238E27FC236}">
                <a16:creationId xmlns:a16="http://schemas.microsoft.com/office/drawing/2014/main" id="{909D07D9-8124-02B3-C047-80CD86337C30}"/>
              </a:ext>
            </a:extLst>
          </p:cNvPr>
          <p:cNvCxnSpPr>
            <a:cxnSpLocks/>
          </p:cNvCxnSpPr>
          <p:nvPr/>
        </p:nvCxnSpPr>
        <p:spPr>
          <a:xfrm>
            <a:off x="10117338" y="5156966"/>
            <a:ext cx="0" cy="443734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6" name="Straight Connector 47">
            <a:extLst>
              <a:ext uri="{FF2B5EF4-FFF2-40B4-BE49-F238E27FC236}">
                <a16:creationId xmlns:a16="http://schemas.microsoft.com/office/drawing/2014/main" id="{6D8413F3-A4DD-3872-4928-E0843CE346CD}"/>
              </a:ext>
            </a:extLst>
          </p:cNvPr>
          <p:cNvCxnSpPr>
            <a:cxnSpLocks/>
          </p:cNvCxnSpPr>
          <p:nvPr/>
        </p:nvCxnSpPr>
        <p:spPr>
          <a:xfrm flipV="1">
            <a:off x="10117338" y="5136881"/>
            <a:ext cx="3886600" cy="6619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7" name="Straight Connector 42">
            <a:extLst>
              <a:ext uri="{FF2B5EF4-FFF2-40B4-BE49-F238E27FC236}">
                <a16:creationId xmlns:a16="http://schemas.microsoft.com/office/drawing/2014/main" id="{26F7374F-B300-1975-7264-8981C23E34DA}"/>
              </a:ext>
            </a:extLst>
          </p:cNvPr>
          <p:cNvCxnSpPr>
            <a:cxnSpLocks/>
          </p:cNvCxnSpPr>
          <p:nvPr/>
        </p:nvCxnSpPr>
        <p:spPr>
          <a:xfrm>
            <a:off x="14020800" y="4212132"/>
            <a:ext cx="0" cy="931368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8" name="Straight Connector 47">
            <a:extLst>
              <a:ext uri="{FF2B5EF4-FFF2-40B4-BE49-F238E27FC236}">
                <a16:creationId xmlns:a16="http://schemas.microsoft.com/office/drawing/2014/main" id="{7508DA77-AE23-DDBA-5B5C-CAF377206C8E}"/>
              </a:ext>
            </a:extLst>
          </p:cNvPr>
          <p:cNvCxnSpPr>
            <a:cxnSpLocks/>
          </p:cNvCxnSpPr>
          <p:nvPr/>
        </p:nvCxnSpPr>
        <p:spPr>
          <a:xfrm>
            <a:off x="14003938" y="4238584"/>
            <a:ext cx="3826862" cy="0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" y="0"/>
            <a:ext cx="18288635" cy="10287000"/>
            <a:chOff x="-26" y="0"/>
            <a:chExt cx="1828863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7684115" cy="9686925"/>
            </a:xfrm>
            <a:custGeom>
              <a:avLst/>
              <a:gdLst/>
              <a:ahLst/>
              <a:cxnLst/>
              <a:rect l="l" t="t" r="r" b="b"/>
              <a:pathLst>
                <a:path w="17684115" h="9686925">
                  <a:moveTo>
                    <a:pt x="17560009" y="9629393"/>
                  </a:moveTo>
                  <a:lnTo>
                    <a:pt x="17525052" y="190"/>
                  </a:lnTo>
                  <a:lnTo>
                    <a:pt x="17586977" y="0"/>
                  </a:lnTo>
                  <a:lnTo>
                    <a:pt x="17648876" y="0"/>
                  </a:lnTo>
                  <a:lnTo>
                    <a:pt x="17683469" y="9554649"/>
                  </a:lnTo>
                  <a:lnTo>
                    <a:pt x="17683515" y="9567246"/>
                  </a:lnTo>
                  <a:lnTo>
                    <a:pt x="17621920" y="9567246"/>
                  </a:lnTo>
                  <a:lnTo>
                    <a:pt x="17621920" y="9629203"/>
                  </a:lnTo>
                  <a:lnTo>
                    <a:pt x="17560009" y="9629393"/>
                  </a:lnTo>
                  <a:close/>
                </a:path>
                <a:path w="17684115" h="9686925">
                  <a:moveTo>
                    <a:pt x="17644471" y="9686787"/>
                  </a:moveTo>
                  <a:lnTo>
                    <a:pt x="11501449" y="9686787"/>
                  </a:lnTo>
                  <a:lnTo>
                    <a:pt x="0" y="9678474"/>
                  </a:lnTo>
                  <a:lnTo>
                    <a:pt x="0" y="9554649"/>
                  </a:lnTo>
                  <a:lnTo>
                    <a:pt x="17559783" y="9567246"/>
                  </a:lnTo>
                  <a:lnTo>
                    <a:pt x="17560008" y="9629203"/>
                  </a:lnTo>
                  <a:lnTo>
                    <a:pt x="17560009" y="9629393"/>
                  </a:lnTo>
                  <a:lnTo>
                    <a:pt x="17683753" y="9629393"/>
                  </a:lnTo>
                  <a:lnTo>
                    <a:pt x="17665640" y="9673018"/>
                  </a:lnTo>
                  <a:lnTo>
                    <a:pt x="17645507" y="9686472"/>
                  </a:lnTo>
                  <a:lnTo>
                    <a:pt x="17644471" y="9686787"/>
                  </a:lnTo>
                  <a:close/>
                </a:path>
                <a:path w="17684115" h="9686925">
                  <a:moveTo>
                    <a:pt x="17683753" y="9629393"/>
                  </a:moveTo>
                  <a:lnTo>
                    <a:pt x="17560009" y="9629393"/>
                  </a:lnTo>
                  <a:lnTo>
                    <a:pt x="17621920" y="9629203"/>
                  </a:lnTo>
                  <a:lnTo>
                    <a:pt x="17621920" y="9567246"/>
                  </a:lnTo>
                  <a:lnTo>
                    <a:pt x="17683515" y="9567246"/>
                  </a:lnTo>
                  <a:lnTo>
                    <a:pt x="17683753" y="9629203"/>
                  </a:lnTo>
                  <a:lnTo>
                    <a:pt x="17683753" y="9629393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6" y="8400322"/>
              <a:ext cx="17558602" cy="11708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939336" y="0"/>
                  </a:moveTo>
                  <a:lnTo>
                    <a:pt x="0" y="0"/>
                  </a:lnTo>
                  <a:lnTo>
                    <a:pt x="0" y="883526"/>
                  </a:lnTo>
                  <a:lnTo>
                    <a:pt x="3718458" y="883539"/>
                  </a:lnTo>
                  <a:lnTo>
                    <a:pt x="3939336" y="0"/>
                  </a:lnTo>
                  <a:close/>
                </a:path>
                <a:path w="18288000" h="10287000">
                  <a:moveTo>
                    <a:pt x="18287988" y="9583255"/>
                  </a:moveTo>
                  <a:lnTo>
                    <a:pt x="12213133" y="9583255"/>
                  </a:lnTo>
                  <a:lnTo>
                    <a:pt x="12037200" y="10286987"/>
                  </a:lnTo>
                  <a:lnTo>
                    <a:pt x="18287988" y="10286987"/>
                  </a:lnTo>
                  <a:lnTo>
                    <a:pt x="18287988" y="95832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667" y="62186"/>
              <a:ext cx="912875" cy="8213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0774" cy="11130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7955" y="42292"/>
              <a:ext cx="2173414" cy="1070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64938" y="9703225"/>
              <a:ext cx="1014221" cy="5334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02997" y="9693020"/>
              <a:ext cx="533495" cy="533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32994" y="9696309"/>
              <a:ext cx="1051486" cy="5356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73284" y="9654695"/>
              <a:ext cx="638460" cy="6297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82843" y="9716622"/>
              <a:ext cx="388509" cy="4818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625119" y="9698746"/>
              <a:ext cx="520517" cy="5205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09929" y="9674328"/>
              <a:ext cx="520517" cy="5205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29513" y="9709145"/>
              <a:ext cx="472630" cy="47263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663287" y="9735091"/>
              <a:ext cx="436244" cy="4460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155921" y="9852465"/>
              <a:ext cx="436008" cy="210202"/>
            </a:xfrm>
            <a:prstGeom prst="rect">
              <a:avLst/>
            </a:prstGeom>
          </p:spPr>
        </p:pic>
      </p:grp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28195"/>
              </p:ext>
            </p:extLst>
          </p:nvPr>
        </p:nvGraphicFramePr>
        <p:xfrm>
          <a:off x="359312" y="1228622"/>
          <a:ext cx="16724625" cy="7618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265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2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2645">
                  <a:extLst>
                    <a:ext uri="{9D8B030D-6E8A-4147-A177-3AD203B41FA5}">
                      <a16:colId xmlns:a16="http://schemas.microsoft.com/office/drawing/2014/main" val="3659845214"/>
                    </a:ext>
                  </a:extLst>
                </a:gridCol>
                <a:gridCol w="15773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28040">
                <a:tc gridSpan="1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3600" b="0" cap="none" spc="0" dirty="0">
                          <a:ln w="0"/>
                          <a:solidFill>
                            <a:srgbClr val="003399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Grant Chart </a:t>
                      </a:r>
                      <a:r>
                        <a:rPr lang="th-TH" sz="3600" b="0" cap="none" spc="0" dirty="0">
                          <a:ln w="0"/>
                          <a:solidFill>
                            <a:srgbClr val="003399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การดำเนินงานและงบประมาณ</a:t>
                      </a:r>
                      <a:endParaRPr sz="3600" b="0" cap="none" spc="0" dirty="0">
                        <a:ln w="0"/>
                        <a:solidFill>
                          <a:srgbClr val="003399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984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ก.ค.68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ส.ค.68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ก.ย.68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ต.ค.68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พ.ย.68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ธ.ค.68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ม.ค.69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ก.พ.69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มี.ค.69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เม.ย.</a:t>
                      </a:r>
                      <a:r>
                        <a:rPr lang="en-US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งบประมาณ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171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1 ประชุมทบทวนคำสั่ง </a:t>
                      </a:r>
                      <a:r>
                        <a:rPr lang="th-TH" sz="2000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ศป</a:t>
                      </a: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ถ.อปท.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5,750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2 พัฒนาศักยภาพคณะทำงาน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17,800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3 ประชุมวิเคราะห์ข้อมูล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4,600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4 ประชุมจัดทำแผนปฏิบัติการ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6,250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5 เวทีคืนข้อมูลและออกแบบ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26,000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6 แก้ไขจุดเสี่ยงและสร้างความตระหนัก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18,500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2341009625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7 เก็บข้อมูลติดตาม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3,600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2700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42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กิจกรรมที่ 8 เวทีแลกเปลี่ยนเรียนรู้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317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16,400 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3177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24230">
                <a:tc gridSpan="11"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lang="th-TH" sz="2800" b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รวมงบประมาณดำเนินการทั้งสิ้น</a:t>
                      </a:r>
                      <a:endParaRPr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31775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lang="en-US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80,000 </a:t>
                      </a:r>
                      <a:r>
                        <a:rPr lang="th-TH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บาท</a:t>
                      </a:r>
                      <a:endParaRPr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231775" marB="0"/>
                </a:tc>
                <a:extLst>
                  <a:ext uri="{0D108BD9-81ED-4DB2-BD59-A6C34878D82A}">
                    <a16:rowId xmlns:a16="http://schemas.microsoft.com/office/drawing/2014/main" val="3435977632"/>
                  </a:ext>
                </a:extLst>
              </a:tr>
            </a:tbl>
          </a:graphicData>
        </a:graphic>
      </p:graphicFrame>
      <p:cxnSp>
        <p:nvCxnSpPr>
          <p:cNvPr id="21" name="ลูกศรเชื่อมต่อแบบตรง 20">
            <a:extLst>
              <a:ext uri="{FF2B5EF4-FFF2-40B4-BE49-F238E27FC236}">
                <a16:creationId xmlns:a16="http://schemas.microsoft.com/office/drawing/2014/main" id="{A426EA04-5625-9C75-9B49-A022F939BE4E}"/>
              </a:ext>
            </a:extLst>
          </p:cNvPr>
          <p:cNvCxnSpPr/>
          <p:nvPr/>
        </p:nvCxnSpPr>
        <p:spPr>
          <a:xfrm>
            <a:off x="6629400" y="31623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ลูกศรเชื่อมต่อแบบตรง 21">
            <a:extLst>
              <a:ext uri="{FF2B5EF4-FFF2-40B4-BE49-F238E27FC236}">
                <a16:creationId xmlns:a16="http://schemas.microsoft.com/office/drawing/2014/main" id="{64182D48-A7BE-00CD-EEE7-BD8CA9F2A72A}"/>
              </a:ext>
            </a:extLst>
          </p:cNvPr>
          <p:cNvCxnSpPr/>
          <p:nvPr/>
        </p:nvCxnSpPr>
        <p:spPr>
          <a:xfrm>
            <a:off x="7543800" y="37719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ลูกศรเชื่อมต่อแบบตรง 22">
            <a:extLst>
              <a:ext uri="{FF2B5EF4-FFF2-40B4-BE49-F238E27FC236}">
                <a16:creationId xmlns:a16="http://schemas.microsoft.com/office/drawing/2014/main" id="{21C0615E-61E1-D0DE-015D-D9B7190CF7C7}"/>
              </a:ext>
            </a:extLst>
          </p:cNvPr>
          <p:cNvCxnSpPr/>
          <p:nvPr/>
        </p:nvCxnSpPr>
        <p:spPr>
          <a:xfrm>
            <a:off x="8458200" y="44577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ลูกศรเชื่อมต่อแบบตรง 23">
            <a:extLst>
              <a:ext uri="{FF2B5EF4-FFF2-40B4-BE49-F238E27FC236}">
                <a16:creationId xmlns:a16="http://schemas.microsoft.com/office/drawing/2014/main" id="{BB64884A-762D-6306-A3A9-6D9386D0306E}"/>
              </a:ext>
            </a:extLst>
          </p:cNvPr>
          <p:cNvCxnSpPr/>
          <p:nvPr/>
        </p:nvCxnSpPr>
        <p:spPr>
          <a:xfrm>
            <a:off x="9296400" y="50673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ลูกศรเชื่อมต่อแบบตรง 24">
            <a:extLst>
              <a:ext uri="{FF2B5EF4-FFF2-40B4-BE49-F238E27FC236}">
                <a16:creationId xmlns:a16="http://schemas.microsoft.com/office/drawing/2014/main" id="{F603DA54-3E25-EA12-E153-C67CAE5268C9}"/>
              </a:ext>
            </a:extLst>
          </p:cNvPr>
          <p:cNvCxnSpPr/>
          <p:nvPr/>
        </p:nvCxnSpPr>
        <p:spPr>
          <a:xfrm>
            <a:off x="10134600" y="56769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ลูกศรเชื่อมต่อแบบตรง 25">
            <a:extLst>
              <a:ext uri="{FF2B5EF4-FFF2-40B4-BE49-F238E27FC236}">
                <a16:creationId xmlns:a16="http://schemas.microsoft.com/office/drawing/2014/main" id="{156ED2F9-CCBA-6069-7A96-A1907B92CD42}"/>
              </a:ext>
            </a:extLst>
          </p:cNvPr>
          <p:cNvCxnSpPr>
            <a:cxnSpLocks/>
          </p:cNvCxnSpPr>
          <p:nvPr/>
        </p:nvCxnSpPr>
        <p:spPr>
          <a:xfrm>
            <a:off x="11049000" y="6286500"/>
            <a:ext cx="26670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ลูกศรเชื่อมต่อแบบตรง 26">
            <a:extLst>
              <a:ext uri="{FF2B5EF4-FFF2-40B4-BE49-F238E27FC236}">
                <a16:creationId xmlns:a16="http://schemas.microsoft.com/office/drawing/2014/main" id="{CE6EAB6A-0A66-1E87-F3B8-6D92651B3F87}"/>
              </a:ext>
            </a:extLst>
          </p:cNvPr>
          <p:cNvCxnSpPr/>
          <p:nvPr/>
        </p:nvCxnSpPr>
        <p:spPr>
          <a:xfrm>
            <a:off x="13716000" y="68961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ลูกศรเชื่อมต่อแบบตรง 27">
            <a:extLst>
              <a:ext uri="{FF2B5EF4-FFF2-40B4-BE49-F238E27FC236}">
                <a16:creationId xmlns:a16="http://schemas.microsoft.com/office/drawing/2014/main" id="{C1F2B805-CFEA-1122-CB76-7F2DC4B1BA27}"/>
              </a:ext>
            </a:extLst>
          </p:cNvPr>
          <p:cNvCxnSpPr/>
          <p:nvPr/>
        </p:nvCxnSpPr>
        <p:spPr>
          <a:xfrm>
            <a:off x="14630400" y="7658100"/>
            <a:ext cx="9144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" y="0"/>
            <a:ext cx="18288026" cy="10287011"/>
            <a:chOff x="-26" y="0"/>
            <a:chExt cx="18288026" cy="10287011"/>
          </a:xfrm>
        </p:grpSpPr>
        <p:pic>
          <p:nvPicPr>
            <p:cNvPr id="3" name="object 3"/>
            <p:cNvPicPr/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9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3930" y="1181100"/>
              <a:ext cx="16259174" cy="6991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6" y="8400322"/>
              <a:ext cx="17558602" cy="11708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939336" y="0"/>
                  </a:moveTo>
                  <a:lnTo>
                    <a:pt x="0" y="0"/>
                  </a:lnTo>
                  <a:lnTo>
                    <a:pt x="0" y="883526"/>
                  </a:lnTo>
                  <a:lnTo>
                    <a:pt x="3718458" y="883539"/>
                  </a:lnTo>
                  <a:lnTo>
                    <a:pt x="3939336" y="0"/>
                  </a:lnTo>
                  <a:close/>
                </a:path>
                <a:path w="18288000" h="10287000">
                  <a:moveTo>
                    <a:pt x="18287988" y="9583255"/>
                  </a:moveTo>
                  <a:lnTo>
                    <a:pt x="12213133" y="9583255"/>
                  </a:lnTo>
                  <a:lnTo>
                    <a:pt x="12037200" y="10286987"/>
                  </a:lnTo>
                  <a:lnTo>
                    <a:pt x="18287988" y="10286987"/>
                  </a:lnTo>
                  <a:lnTo>
                    <a:pt x="18287988" y="95832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667" y="62186"/>
              <a:ext cx="912875" cy="8213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150774" cy="11130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7955" y="42292"/>
              <a:ext cx="2173414" cy="1070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64938" y="9703225"/>
              <a:ext cx="1014221" cy="533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02997" y="9693020"/>
              <a:ext cx="533495" cy="5334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32994" y="9696309"/>
              <a:ext cx="1051486" cy="5356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73284" y="9654695"/>
              <a:ext cx="638460" cy="6297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182843" y="9716622"/>
              <a:ext cx="388509" cy="4818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25119" y="9698746"/>
              <a:ext cx="520517" cy="5205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109929" y="9674328"/>
              <a:ext cx="520517" cy="5205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629513" y="9709145"/>
              <a:ext cx="472630" cy="4726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663287" y="9735091"/>
              <a:ext cx="436244" cy="446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155921" y="9852465"/>
              <a:ext cx="436008" cy="21020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594822" y="1683571"/>
            <a:ext cx="1022096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h-TH" spc="-535" dirty="0">
                <a:solidFill>
                  <a:srgbClr val="003399"/>
                </a:solidFill>
              </a:rPr>
              <a:t>ผลที่คาดว่าจะได้รับ</a:t>
            </a:r>
            <a:endParaRPr sz="5900" dirty="0">
              <a:solidFill>
                <a:srgbClr val="003399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68655" y="3673537"/>
            <a:ext cx="13842945" cy="33749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h-TH" sz="4050" b="1" spc="-3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จากการดำเนินโครงการ</a:t>
            </a:r>
            <a:endParaRPr sz="4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045" marR="5080">
              <a:lnSpc>
                <a:spcPct val="141900"/>
              </a:lnSpc>
              <a:spcBef>
                <a:spcPts val="1910"/>
              </a:spcBef>
            </a:pP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ถ.อปท.ตำบลโพนเขวามีความเข็มแข็งและสามารถทำงานได้อย่างมีประสิทธิภาพ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ประชาชนมีความรู้และตระหนักในการป้องกันอบุติเหตุทางถนน มีส่วนร่วมในการแก้ไขปัญหา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จุดเสี่ยงในชุมชนได้รับการปรับปรุงแก้ไข ลดโอกาสเกิดอุบัติเหตุ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อัตราการเสียชีวิตและบาดเจ็บจากอุบัติเหตุทางถนนลดลงอย่างมีนัยสำคัญ</a:t>
            </a:r>
            <a:endParaRPr lang="th-TH" sz="2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object 16">
            <a:extLst>
              <a:ext uri="{FF2B5EF4-FFF2-40B4-BE49-F238E27FC236}">
                <a16:creationId xmlns:a16="http://schemas.microsoft.com/office/drawing/2014/main" id="{802648DA-D503-8C2C-8DE3-0872FC5BE1EA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23210" y="4857751"/>
            <a:ext cx="133350" cy="133349"/>
          </a:xfrm>
          <a:prstGeom prst="rect">
            <a:avLst/>
          </a:prstGeom>
        </p:spPr>
      </p:pic>
      <p:pic>
        <p:nvPicPr>
          <p:cNvPr id="29" name="object 16">
            <a:extLst>
              <a:ext uri="{FF2B5EF4-FFF2-40B4-BE49-F238E27FC236}">
                <a16:creationId xmlns:a16="http://schemas.microsoft.com/office/drawing/2014/main" id="{CD34184E-8188-5C4D-9781-3313E1CACB19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67000" y="5448300"/>
            <a:ext cx="133350" cy="133349"/>
          </a:xfrm>
          <a:prstGeom prst="rect">
            <a:avLst/>
          </a:prstGeom>
        </p:spPr>
      </p:pic>
      <p:pic>
        <p:nvPicPr>
          <p:cNvPr id="30" name="object 16">
            <a:extLst>
              <a:ext uri="{FF2B5EF4-FFF2-40B4-BE49-F238E27FC236}">
                <a16:creationId xmlns:a16="http://schemas.microsoft.com/office/drawing/2014/main" id="{8EA35177-E688-AC62-A6C9-FD6B5C07AD5E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67000" y="6057900"/>
            <a:ext cx="133350" cy="133349"/>
          </a:xfrm>
          <a:prstGeom prst="rect">
            <a:avLst/>
          </a:prstGeom>
        </p:spPr>
      </p:pic>
      <p:pic>
        <p:nvPicPr>
          <p:cNvPr id="31" name="object 16">
            <a:extLst>
              <a:ext uri="{FF2B5EF4-FFF2-40B4-BE49-F238E27FC236}">
                <a16:creationId xmlns:a16="http://schemas.microsoft.com/office/drawing/2014/main" id="{FA1A1E79-69F8-AB12-F561-3881E6430731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67000" y="6743700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" y="0"/>
            <a:ext cx="18288026" cy="10287011"/>
            <a:chOff x="-26" y="0"/>
            <a:chExt cx="18288026" cy="10287011"/>
          </a:xfrm>
        </p:grpSpPr>
        <p:pic>
          <p:nvPicPr>
            <p:cNvPr id="3" name="object 3"/>
            <p:cNvPicPr/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3930" y="1181100"/>
              <a:ext cx="16259174" cy="6991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6" y="8400322"/>
              <a:ext cx="17558602" cy="11708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939336" y="0"/>
                  </a:moveTo>
                  <a:lnTo>
                    <a:pt x="0" y="0"/>
                  </a:lnTo>
                  <a:lnTo>
                    <a:pt x="0" y="883526"/>
                  </a:lnTo>
                  <a:lnTo>
                    <a:pt x="3718458" y="883539"/>
                  </a:lnTo>
                  <a:lnTo>
                    <a:pt x="3939336" y="0"/>
                  </a:lnTo>
                  <a:close/>
                </a:path>
                <a:path w="18288000" h="10287000">
                  <a:moveTo>
                    <a:pt x="18287988" y="9583255"/>
                  </a:moveTo>
                  <a:lnTo>
                    <a:pt x="12213133" y="9583255"/>
                  </a:lnTo>
                  <a:lnTo>
                    <a:pt x="12037200" y="10286987"/>
                  </a:lnTo>
                  <a:lnTo>
                    <a:pt x="18287988" y="10286987"/>
                  </a:lnTo>
                  <a:lnTo>
                    <a:pt x="18287988" y="95832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667" y="62186"/>
              <a:ext cx="912875" cy="8213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150774" cy="11130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7955" y="42292"/>
              <a:ext cx="2173414" cy="1070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64938" y="9703225"/>
              <a:ext cx="1014221" cy="533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2997" y="9693020"/>
              <a:ext cx="533495" cy="5334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32994" y="9696309"/>
              <a:ext cx="1051486" cy="5356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73284" y="9654695"/>
              <a:ext cx="638460" cy="6297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82843" y="9716622"/>
              <a:ext cx="388509" cy="4818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25119" y="9698746"/>
              <a:ext cx="520517" cy="5205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09929" y="9674328"/>
              <a:ext cx="520517" cy="5205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29513" y="9709145"/>
              <a:ext cx="472630" cy="4726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663287" y="9735091"/>
              <a:ext cx="436244" cy="446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155921" y="9852465"/>
              <a:ext cx="436008" cy="21020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594822" y="1683571"/>
            <a:ext cx="1022096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h-TH" spc="-535" dirty="0">
                <a:solidFill>
                  <a:srgbClr val="003399"/>
                </a:solidFill>
              </a:rPr>
              <a:t>ผลที่คาดว่าจะได้รับ</a:t>
            </a:r>
            <a:endParaRPr sz="5900" dirty="0">
              <a:solidFill>
                <a:srgbClr val="003399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68655" y="3673537"/>
            <a:ext cx="13842945" cy="27302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h-TH" sz="4050" b="1" spc="-3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การดำเนินต่อเนื่องหลังสิ้นสุดโครงการ</a:t>
            </a:r>
            <a:endParaRPr sz="4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045" marR="5080">
              <a:lnSpc>
                <a:spcPct val="141900"/>
              </a:lnSpc>
              <a:spcBef>
                <a:spcPts val="1910"/>
              </a:spcBef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อบต.โพนเขวาจัดสรรงบประมาณประจำปีสนับสนุนการดำเนินงานของ 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จัดประชุมคณะทำงานอย่างสม่ำเสมอตามที่กำหนด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ติดตามประเมินผลการดำเนินงานและปรับปรุงแผนงานอย่างต่อเนื่อง</a:t>
            </a:r>
            <a:endParaRPr lang="th-TH" sz="2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object 16">
            <a:extLst>
              <a:ext uri="{FF2B5EF4-FFF2-40B4-BE49-F238E27FC236}">
                <a16:creationId xmlns:a16="http://schemas.microsoft.com/office/drawing/2014/main" id="{802648DA-D503-8C2C-8DE3-0872FC5BE1EA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23210" y="4857751"/>
            <a:ext cx="133350" cy="133349"/>
          </a:xfrm>
          <a:prstGeom prst="rect">
            <a:avLst/>
          </a:prstGeom>
        </p:spPr>
      </p:pic>
      <p:pic>
        <p:nvPicPr>
          <p:cNvPr id="29" name="object 16">
            <a:extLst>
              <a:ext uri="{FF2B5EF4-FFF2-40B4-BE49-F238E27FC236}">
                <a16:creationId xmlns:a16="http://schemas.microsoft.com/office/drawing/2014/main" id="{CD34184E-8188-5C4D-9781-3313E1CACB1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67000" y="5448300"/>
            <a:ext cx="133350" cy="133349"/>
          </a:xfrm>
          <a:prstGeom prst="rect">
            <a:avLst/>
          </a:prstGeom>
        </p:spPr>
      </p:pic>
      <p:pic>
        <p:nvPicPr>
          <p:cNvPr id="30" name="object 16">
            <a:extLst>
              <a:ext uri="{FF2B5EF4-FFF2-40B4-BE49-F238E27FC236}">
                <a16:creationId xmlns:a16="http://schemas.microsoft.com/office/drawing/2014/main" id="{8EA35177-E688-AC62-A6C9-FD6B5C07AD5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67000" y="6057900"/>
            <a:ext cx="133350" cy="13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6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" y="0"/>
            <a:ext cx="18288026" cy="10287011"/>
            <a:chOff x="-26" y="0"/>
            <a:chExt cx="18288026" cy="10287011"/>
          </a:xfrm>
        </p:grpSpPr>
        <p:pic>
          <p:nvPicPr>
            <p:cNvPr id="3" name="object 3"/>
            <p:cNvPicPr/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3930" y="1181100"/>
              <a:ext cx="16259174" cy="6991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6" y="8400322"/>
              <a:ext cx="17558602" cy="11708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939336" y="0"/>
                  </a:moveTo>
                  <a:lnTo>
                    <a:pt x="0" y="0"/>
                  </a:lnTo>
                  <a:lnTo>
                    <a:pt x="0" y="883526"/>
                  </a:lnTo>
                  <a:lnTo>
                    <a:pt x="3718458" y="883539"/>
                  </a:lnTo>
                  <a:lnTo>
                    <a:pt x="3939336" y="0"/>
                  </a:lnTo>
                  <a:close/>
                </a:path>
                <a:path w="18288000" h="10287000">
                  <a:moveTo>
                    <a:pt x="18287988" y="9583255"/>
                  </a:moveTo>
                  <a:lnTo>
                    <a:pt x="12213133" y="9583255"/>
                  </a:lnTo>
                  <a:lnTo>
                    <a:pt x="12037200" y="10286987"/>
                  </a:lnTo>
                  <a:lnTo>
                    <a:pt x="18287988" y="10286987"/>
                  </a:lnTo>
                  <a:lnTo>
                    <a:pt x="18287988" y="95832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667" y="62186"/>
              <a:ext cx="912875" cy="8213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150774" cy="11130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7955" y="42292"/>
              <a:ext cx="2173414" cy="1070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64938" y="9703225"/>
              <a:ext cx="1014221" cy="533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2997" y="9693020"/>
              <a:ext cx="533495" cy="5334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32994" y="9696309"/>
              <a:ext cx="1051486" cy="5356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73284" y="9654695"/>
              <a:ext cx="638460" cy="6297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82843" y="9716622"/>
              <a:ext cx="388509" cy="4818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25119" y="9698746"/>
              <a:ext cx="520517" cy="5205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09929" y="9674328"/>
              <a:ext cx="520517" cy="5205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29513" y="9709145"/>
              <a:ext cx="472630" cy="4726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663287" y="9735091"/>
              <a:ext cx="436244" cy="446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155921" y="9852465"/>
              <a:ext cx="436008" cy="21020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594822" y="1683571"/>
            <a:ext cx="1022096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h-TH" spc="-535" dirty="0">
                <a:solidFill>
                  <a:srgbClr val="003399"/>
                </a:solidFill>
              </a:rPr>
              <a:t>ผลที่คาดว่าจะได้รับ</a:t>
            </a:r>
            <a:endParaRPr sz="5900" dirty="0">
              <a:solidFill>
                <a:srgbClr val="003399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68655" y="3673537"/>
            <a:ext cx="13842945" cy="33749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h-TH" sz="40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วิธีการขยายผลและการใช้ประโยชน์</a:t>
            </a:r>
            <a:endParaRPr sz="4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045" marR="5080">
              <a:lnSpc>
                <a:spcPct val="141900"/>
              </a:lnSpc>
              <a:spcBef>
                <a:spcPts val="1910"/>
              </a:spcBef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นำรูปแบบการทำงานไปเผยแพร่และถ่ายทอดให้ตำบลอื่นในอำเภอเมืองศรีสะเกษ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จัดทำคู่มือการปฏิบัติงานของ 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 เพื่อเป็นแนวทางให้ อปท.อื่น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สร้างเครือข่ายความร่วมมือระหว่าง 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ศป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ถ.อปท. ในระดับอำเภอและจังหวัด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นำเสนอผลการดำเนินงานในเวทีแลกเปลี่ยนเรียบรู้ระดับภูมิภาค</a:t>
            </a:r>
            <a:endParaRPr lang="th-TH" sz="2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object 16">
            <a:extLst>
              <a:ext uri="{FF2B5EF4-FFF2-40B4-BE49-F238E27FC236}">
                <a16:creationId xmlns:a16="http://schemas.microsoft.com/office/drawing/2014/main" id="{802648DA-D503-8C2C-8DE3-0872FC5BE1EA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23210" y="4857751"/>
            <a:ext cx="133350" cy="133349"/>
          </a:xfrm>
          <a:prstGeom prst="rect">
            <a:avLst/>
          </a:prstGeom>
        </p:spPr>
      </p:pic>
      <p:pic>
        <p:nvPicPr>
          <p:cNvPr id="29" name="object 16">
            <a:extLst>
              <a:ext uri="{FF2B5EF4-FFF2-40B4-BE49-F238E27FC236}">
                <a16:creationId xmlns:a16="http://schemas.microsoft.com/office/drawing/2014/main" id="{CD34184E-8188-5C4D-9781-3313E1CACB1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67000" y="5448300"/>
            <a:ext cx="133350" cy="133349"/>
          </a:xfrm>
          <a:prstGeom prst="rect">
            <a:avLst/>
          </a:prstGeom>
        </p:spPr>
      </p:pic>
      <p:pic>
        <p:nvPicPr>
          <p:cNvPr id="30" name="object 16">
            <a:extLst>
              <a:ext uri="{FF2B5EF4-FFF2-40B4-BE49-F238E27FC236}">
                <a16:creationId xmlns:a16="http://schemas.microsoft.com/office/drawing/2014/main" id="{8EA35177-E688-AC62-A6C9-FD6B5C07AD5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67000" y="6057900"/>
            <a:ext cx="133350" cy="133349"/>
          </a:xfrm>
          <a:prstGeom prst="rect">
            <a:avLst/>
          </a:prstGeom>
        </p:spPr>
      </p:pic>
      <p:pic>
        <p:nvPicPr>
          <p:cNvPr id="31" name="object 16">
            <a:extLst>
              <a:ext uri="{FF2B5EF4-FFF2-40B4-BE49-F238E27FC236}">
                <a16:creationId xmlns:a16="http://schemas.microsoft.com/office/drawing/2014/main" id="{FA1A1E79-69F8-AB12-F561-3881E643073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67000" y="6743700"/>
            <a:ext cx="133350" cy="13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1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783" y="1184374"/>
            <a:ext cx="17559020" cy="8308340"/>
            <a:chOff x="-26" y="1262963"/>
            <a:chExt cx="17559020" cy="8308340"/>
          </a:xfrm>
        </p:grpSpPr>
        <p:pic>
          <p:nvPicPr>
            <p:cNvPr id="3" name="object 3"/>
            <p:cNvPicPr/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3930" y="1262963"/>
              <a:ext cx="16259174" cy="71342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6" y="8400322"/>
              <a:ext cx="17558602" cy="117082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0"/>
            <a:ext cx="3716020" cy="1113155"/>
            <a:chOff x="0" y="0"/>
            <a:chExt cx="3716020" cy="11131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163" y="111466"/>
              <a:ext cx="874381" cy="7665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150774" cy="11130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8141" y="183055"/>
              <a:ext cx="2077824" cy="70883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2390321" y="9654695"/>
            <a:ext cx="2721610" cy="629920"/>
            <a:chOff x="12390321" y="9654695"/>
            <a:chExt cx="2721610" cy="62992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90321" y="9703225"/>
              <a:ext cx="524719" cy="533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2998" y="9693019"/>
              <a:ext cx="533495" cy="5334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32995" y="9696309"/>
              <a:ext cx="1051486" cy="5356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73284" y="9654695"/>
              <a:ext cx="638460" cy="629792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182843" y="9716622"/>
            <a:ext cx="388509" cy="48186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5629514" y="9674328"/>
            <a:ext cx="1516380" cy="545465"/>
            <a:chOff x="15629514" y="9674328"/>
            <a:chExt cx="1516380" cy="545465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25119" y="9698746"/>
              <a:ext cx="520517" cy="5205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09929" y="9674328"/>
              <a:ext cx="520517" cy="52051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29514" y="9709145"/>
              <a:ext cx="472630" cy="472630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663287" y="9735091"/>
            <a:ext cx="436244" cy="43135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175739" y="9852465"/>
            <a:ext cx="411234" cy="21020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05083" y="3859513"/>
            <a:ext cx="152400" cy="1523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05083" y="4440538"/>
            <a:ext cx="152400" cy="1523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05083" y="5067301"/>
            <a:ext cx="152400" cy="1523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05083" y="5753100"/>
            <a:ext cx="152400" cy="152399"/>
          </a:xfrm>
          <a:prstGeom prst="rect">
            <a:avLst/>
          </a:prstGeom>
        </p:spPr>
      </p:pic>
      <p:sp>
        <p:nvSpPr>
          <p:cNvPr id="29" name="object 20">
            <a:extLst>
              <a:ext uri="{FF2B5EF4-FFF2-40B4-BE49-F238E27FC236}">
                <a16:creationId xmlns:a16="http://schemas.microsoft.com/office/drawing/2014/main" id="{7F16E91C-36DF-2E6C-C2BB-06884BD851EB}"/>
              </a:ext>
            </a:extLst>
          </p:cNvPr>
          <p:cNvSpPr txBox="1">
            <a:spLocks/>
          </p:cNvSpPr>
          <p:nvPr/>
        </p:nvSpPr>
        <p:spPr>
          <a:xfrm>
            <a:off x="1594821" y="1683571"/>
            <a:ext cx="11152129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5900" b="1" i="0">
                <a:solidFill>
                  <a:srgbClr val="F1F1F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th-TH" dirty="0">
                <a:solidFill>
                  <a:srgbClr val="003399"/>
                </a:solidFill>
              </a:rPr>
              <a:t>ผู้รับทุนและรับผิดชอบโครงการ</a:t>
            </a: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D4BB8BF1-FB7A-8B41-660B-9C15D68432ED}"/>
              </a:ext>
            </a:extLst>
          </p:cNvPr>
          <p:cNvSpPr txBox="1"/>
          <p:nvPr/>
        </p:nvSpPr>
        <p:spPr>
          <a:xfrm>
            <a:off x="3042432" y="3502677"/>
            <a:ext cx="13842945" cy="2508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marR="5080">
              <a:lnSpc>
                <a:spcPct val="141900"/>
              </a:lnSpc>
              <a:spcBef>
                <a:spcPts val="1910"/>
              </a:spcBef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นางอุทัง  ทิมพิทักษ์			ผู้รับผิดชอบโครงการ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น.ส.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ลภั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สรดา  โพธิ์ขาว			ผู้ร่วมทำโครงการ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นายสุรัตน์   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วรร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ณทวี			ผู้ร่วมทำโครงการ</a:t>
            </a:r>
          </a:p>
          <a:p>
            <a:pPr marL="233045" marR="5080">
              <a:lnSpc>
                <a:spcPct val="141900"/>
              </a:lnSpc>
            </a:pP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พ.ต.ท.</a:t>
            </a:r>
            <a:r>
              <a:rPr lang="th-TH" sz="2950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ศิ</a:t>
            </a:r>
            <a:r>
              <a:rPr lang="th-TH" sz="2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วัช  กัญญาพันธ์		ผู้ร่วมทำโครงการ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18288000" cy="1895475"/>
            <a:chOff x="0" y="8372476"/>
            <a:chExt cx="18288000" cy="1895475"/>
          </a:xfrm>
        </p:grpSpPr>
        <p:sp>
          <p:nvSpPr>
            <p:cNvPr id="7" name="object 7"/>
            <p:cNvSpPr/>
            <p:nvPr/>
          </p:nvSpPr>
          <p:spPr>
            <a:xfrm>
              <a:off x="0" y="8372476"/>
              <a:ext cx="18288000" cy="1895475"/>
            </a:xfrm>
            <a:custGeom>
              <a:avLst/>
              <a:gdLst/>
              <a:ahLst/>
              <a:cxnLst/>
              <a:rect l="l" t="t" r="r" b="b"/>
              <a:pathLst>
                <a:path w="18288000" h="1895475">
                  <a:moveTo>
                    <a:pt x="18287999" y="1895093"/>
                  </a:moveTo>
                  <a:lnTo>
                    <a:pt x="0" y="189509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8950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6819" y="8633725"/>
              <a:ext cx="1195101" cy="10753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3240" y="8552310"/>
              <a:ext cx="2060722" cy="14573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2514" y="8607680"/>
              <a:ext cx="2845498" cy="14018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733" y="8714050"/>
              <a:ext cx="2082736" cy="10956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7378" y="8693091"/>
              <a:ext cx="1095613" cy="10956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45757" y="8699847"/>
              <a:ext cx="2159271" cy="10999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82048" y="8614390"/>
              <a:ext cx="1311116" cy="1293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94791" y="8777781"/>
              <a:ext cx="847135" cy="105079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39639" y="8738803"/>
              <a:ext cx="1134977" cy="11349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216283" y="8685559"/>
              <a:ext cx="1134977" cy="113497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68747" y="8761479"/>
              <a:ext cx="1030577" cy="10305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03343" y="8818053"/>
              <a:ext cx="951261" cy="9726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497038" y="9073984"/>
              <a:ext cx="950705" cy="458342"/>
            </a:xfrm>
            <a:prstGeom prst="rect">
              <a:avLst/>
            </a:prstGeom>
          </p:spPr>
        </p:pic>
      </p:grpSp>
      <p:sp>
        <p:nvSpPr>
          <p:cNvPr id="21" name="สี่เหลี่ยมผืนผ้า 20"/>
          <p:cNvSpPr/>
          <p:nvPr/>
        </p:nvSpPr>
        <p:spPr>
          <a:xfrm>
            <a:off x="6600140" y="3162300"/>
            <a:ext cx="4996882" cy="193899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1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H SarabunPSK" pitchFamily="34" charset="-34"/>
                <a:cs typeface="TH SarabunPSK" pitchFamily="34" charset="-34"/>
              </a:rPr>
              <a:t>ตอบคำถาม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1473</Words>
  <Application>Microsoft Office PowerPoint</Application>
  <PresentationFormat>กำหนดเอง</PresentationFormat>
  <Paragraphs>215</Paragraphs>
  <Slides>15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9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15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Georgia Pro Cond</vt:lpstr>
      <vt:lpstr>Microsoft Sans Serif</vt:lpstr>
      <vt:lpstr>Tahoma</vt:lpstr>
      <vt:lpstr>TH SarabunPSK</vt:lpstr>
      <vt:lpstr>Wingdings</vt:lpstr>
      <vt:lpstr>Office Theme</vt:lpstr>
      <vt:lpstr>งานนำเสนอ PowerPoint</vt:lpstr>
      <vt:lpstr>งานนำเสนอ PowerPoint</vt:lpstr>
      <vt:lpstr>สถานการณ์ของปัญหาในเขตพื้นที่ตำบลโพนเขวา</vt:lpstr>
      <vt:lpstr>สถานการณ์ของปัญหาในเขตพื้นที่ตำบลโพนเขวา</vt:lpstr>
      <vt:lpstr>สถานการณ์ของปัญหา (ความเสี่ยงด้านอุบัติเหตุ)</vt:lpstr>
      <vt:lpstr>สถานการณ์ของปัญหา (ด้านสถานที่เกิดเหตุ)</vt:lpstr>
      <vt:lpstr>วิเคราห์สถานการณ์ของปัญหา</vt:lpstr>
      <vt:lpstr>งานนำเสนอ PowerPoint</vt:lpstr>
      <vt:lpstr>งานนำเสนอ PowerPoint</vt:lpstr>
      <vt:lpstr>งานนำเสนอ PowerPoint</vt:lpstr>
      <vt:lpstr>ผลที่คาดว่าจะได้รับ</vt:lpstr>
      <vt:lpstr>ผลที่คาดว่าจะได้รับ</vt:lpstr>
      <vt:lpstr>ผลที่คาดว่าจะได้รับ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นำเสนอโครงการย่อยNFS68-RST-ห้วยทับทัน</dc:title>
  <dc:creator>surachai junthasri</dc:creator>
  <cp:keywords>DAGqlRBMYS4,BAGpdepc66Q,0</cp:keywords>
  <cp:lastModifiedBy>User</cp:lastModifiedBy>
  <cp:revision>41</cp:revision>
  <cp:lastPrinted>2025-06-24T10:00:26Z</cp:lastPrinted>
  <dcterms:created xsi:type="dcterms:W3CDTF">2025-06-23T04:18:35Z</dcterms:created>
  <dcterms:modified xsi:type="dcterms:W3CDTF">2025-06-24T10:36:00Z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2025-06-22T00:00:00Z</vt:filetime>
  </property>
  <property fmtid="{D5CDD505-2E9C-101B-9397-08002B2CF9AE}" pid="3" name="Creator">
    <vt:lpwstr>Canva</vt:lpwstr>
  </property>
  <property fmtid="{D5CDD505-2E9C-101B-9397-08002B2CF9AE}" pid="4" name="LastSaved">
    <vt:filetime>2025-06-23T00:00:00Z</vt:filetime>
  </property>
  <property fmtid="{D5CDD505-2E9C-101B-9397-08002B2CF9AE}" pid="5" name="Producer">
    <vt:lpwstr>Canva</vt:lpwstr>
  </property>
</Properties>
</file>
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Garuda Bold" charset="1" panose="020B0704020202020204"/>
      <p:regular r:id="rId21"/>
    </p:embeddedFont>
    <p:embeddedFont>
      <p:font typeface="Emmali Bold" charset="1" panose="00000000000000000000"/>
      <p:regular r:id="rId22"/>
    </p:embeddedFont>
    <p:embeddedFont>
      <p:font typeface="Sarabun Bold" charset="1" panose="00000800000000000000"/>
      <p:regular r:id="rId23"/>
    </p:embeddedFont>
    <p:embeddedFont>
      <p:font typeface="Sarabun" charset="1" panose="00000500000000000000"/>
      <p:regular r:id="rId24"/>
    </p:embeddedFont>
    <p:embeddedFont>
      <p:font typeface="Emmali" charset="1" panose="00000000000000000000"/>
      <p:regular r:id="rId25"/>
    </p:embeddedFont>
    <p:embeddedFont>
      <p:font typeface="Anantason Semi-Bold" charset="1" panose="00000000000000000000"/>
      <p:regular r:id="rId26"/>
    </p:embeddedFont>
    <p:embeddedFont>
      <p:font typeface="Anantason Medium" charset="1" panose="00000000000000000000"/>
      <p:regular r:id="rId27"/>
    </p:embeddedFont>
    <p:embeddedFont>
      <p:font typeface="Chonburi" charset="1" panose="000005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7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7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embeddings/oleObject1.bin" Type="http://schemas.openxmlformats.org/officeDocument/2006/relationships/oleObject"/><Relationship Id="rId4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391" t="0" r="0" b="-3699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145632" y="1799787"/>
            <a:ext cx="14156655" cy="4428166"/>
            <a:chOff x="0" y="0"/>
            <a:chExt cx="3994823" cy="12495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94823" cy="1249571"/>
            </a:xfrm>
            <a:custGeom>
              <a:avLst/>
              <a:gdLst/>
              <a:ahLst/>
              <a:cxnLst/>
              <a:rect r="r" b="b" t="t" l="l"/>
              <a:pathLst>
                <a:path h="1249571" w="3994823">
                  <a:moveTo>
                    <a:pt x="0" y="0"/>
                  </a:moveTo>
                  <a:lnTo>
                    <a:pt x="3994823" y="0"/>
                  </a:lnTo>
                  <a:lnTo>
                    <a:pt x="3994823" y="1249571"/>
                  </a:lnTo>
                  <a:lnTo>
                    <a:pt x="0" y="1249571"/>
                  </a:lnTo>
                  <a:close/>
                </a:path>
              </a:pathLst>
            </a:custGeom>
            <a:solidFill>
              <a:srgbClr val="3151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994823" cy="1287671"/>
            </a:xfrm>
            <a:prstGeom prst="rect">
              <a:avLst/>
            </a:prstGeom>
          </p:spPr>
          <p:txBody>
            <a:bodyPr anchor="ctr" rtlCol="false" tIns="81280" lIns="81280" bIns="81280" rIns="81280"/>
            <a:lstStyle/>
            <a:p>
              <a:pPr algn="ctr">
                <a:lnSpc>
                  <a:spcPts val="246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239156">
            <a:off x="-1482698" y="-1370596"/>
            <a:ext cx="8950487" cy="11135824"/>
            <a:chOff x="0" y="0"/>
            <a:chExt cx="812800" cy="10112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011252"/>
            </a:xfrm>
            <a:custGeom>
              <a:avLst/>
              <a:gdLst/>
              <a:ahLst/>
              <a:cxnLst/>
              <a:rect r="r" b="b" t="t" l="l"/>
              <a:pathLst>
                <a:path h="1011252" w="812800">
                  <a:moveTo>
                    <a:pt x="18164" y="0"/>
                  </a:moveTo>
                  <a:lnTo>
                    <a:pt x="794636" y="0"/>
                  </a:lnTo>
                  <a:cubicBezTo>
                    <a:pt x="804668" y="0"/>
                    <a:pt x="812800" y="8132"/>
                    <a:pt x="812800" y="18164"/>
                  </a:cubicBezTo>
                  <a:lnTo>
                    <a:pt x="812800" y="993088"/>
                  </a:lnTo>
                  <a:cubicBezTo>
                    <a:pt x="812800" y="1003120"/>
                    <a:pt x="804668" y="1011252"/>
                    <a:pt x="794636" y="1011252"/>
                  </a:cubicBezTo>
                  <a:lnTo>
                    <a:pt x="18164" y="1011252"/>
                  </a:lnTo>
                  <a:cubicBezTo>
                    <a:pt x="8132" y="1011252"/>
                    <a:pt x="0" y="1003120"/>
                    <a:pt x="0" y="993088"/>
                  </a:cubicBezTo>
                  <a:lnTo>
                    <a:pt x="0" y="18164"/>
                  </a:lnTo>
                  <a:cubicBezTo>
                    <a:pt x="0" y="8132"/>
                    <a:pt x="8132" y="0"/>
                    <a:pt x="18164" y="0"/>
                  </a:cubicBezTo>
                  <a:close/>
                </a:path>
              </a:pathLst>
            </a:custGeom>
            <a:blipFill>
              <a:blip r:embed="rId3"/>
              <a:stretch>
                <a:fillRect l="-39347" t="0" r="-39347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-1577053">
            <a:off x="448745" y="-1558257"/>
            <a:ext cx="11734685" cy="12574854"/>
          </a:xfrm>
          <a:custGeom>
            <a:avLst/>
            <a:gdLst/>
            <a:ahLst/>
            <a:cxnLst/>
            <a:rect r="r" b="b" t="t" l="l"/>
            <a:pathLst>
              <a:path h="12574854" w="11734685">
                <a:moveTo>
                  <a:pt x="0" y="0"/>
                </a:moveTo>
                <a:lnTo>
                  <a:pt x="11734685" y="0"/>
                </a:lnTo>
                <a:lnTo>
                  <a:pt x="11734685" y="12574854"/>
                </a:lnTo>
                <a:lnTo>
                  <a:pt x="0" y="125748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194" t="0" r="0" b="-18186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9594249" y="9768835"/>
            <a:ext cx="2434000" cy="2434000"/>
          </a:xfrm>
          <a:custGeom>
            <a:avLst/>
            <a:gdLst/>
            <a:ahLst/>
            <a:cxnLst/>
            <a:rect r="r" b="b" t="t" l="l"/>
            <a:pathLst>
              <a:path h="2434000" w="2434000">
                <a:moveTo>
                  <a:pt x="2433999" y="0"/>
                </a:moveTo>
                <a:lnTo>
                  <a:pt x="0" y="0"/>
                </a:lnTo>
                <a:lnTo>
                  <a:pt x="0" y="2434000"/>
                </a:lnTo>
                <a:lnTo>
                  <a:pt x="2433999" y="2434000"/>
                </a:lnTo>
                <a:lnTo>
                  <a:pt x="243399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14598862" y="-1633372"/>
            <a:ext cx="2235880" cy="2235880"/>
          </a:xfrm>
          <a:custGeom>
            <a:avLst/>
            <a:gdLst/>
            <a:ahLst/>
            <a:cxnLst/>
            <a:rect r="r" b="b" t="t" l="l"/>
            <a:pathLst>
              <a:path h="2235880" w="2235880">
                <a:moveTo>
                  <a:pt x="2235880" y="0"/>
                </a:moveTo>
                <a:lnTo>
                  <a:pt x="0" y="0"/>
                </a:lnTo>
                <a:lnTo>
                  <a:pt x="0" y="2235880"/>
                </a:lnTo>
                <a:lnTo>
                  <a:pt x="2235880" y="2235880"/>
                </a:lnTo>
                <a:lnTo>
                  <a:pt x="223588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02117" y="9012328"/>
            <a:ext cx="18590117" cy="1274672"/>
          </a:xfrm>
          <a:custGeom>
            <a:avLst/>
            <a:gdLst/>
            <a:ahLst/>
            <a:cxnLst/>
            <a:rect r="r" b="b" t="t" l="l"/>
            <a:pathLst>
              <a:path h="1274672" w="18590117">
                <a:moveTo>
                  <a:pt x="0" y="0"/>
                </a:moveTo>
                <a:lnTo>
                  <a:pt x="18590117" y="0"/>
                </a:lnTo>
                <a:lnTo>
                  <a:pt x="18590117" y="1274672"/>
                </a:lnTo>
                <a:lnTo>
                  <a:pt x="0" y="12746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907" r="0" b="-9943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956010" y="2885845"/>
            <a:ext cx="8535899" cy="140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338"/>
              </a:lnSpc>
            </a:pPr>
            <a:r>
              <a:rPr lang="en-US" sz="11116" b="true">
                <a:solidFill>
                  <a:srgbClr val="FFFFFF"/>
                </a:solidFill>
                <a:latin typeface="Garuda Bold"/>
                <a:ea typeface="Garuda Bold"/>
                <a:cs typeface="Garuda Bold"/>
                <a:sym typeface="Garuda Bold"/>
              </a:rPr>
              <a:t>โครงการ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12117" y="4190962"/>
            <a:ext cx="10445290" cy="1884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618"/>
              </a:lnSpc>
              <a:spcBef>
                <a:spcPct val="0"/>
              </a:spcBef>
            </a:pPr>
            <a:r>
              <a:rPr lang="en-US" b="true" sz="5441">
                <a:solidFill>
                  <a:srgbClr val="FFFFFF"/>
                </a:solidFill>
                <a:latin typeface="Garuda Bold"/>
                <a:ea typeface="Garuda Bold"/>
                <a:cs typeface="Garuda Bold"/>
                <a:sym typeface="Garuda Bold"/>
              </a:rPr>
              <a:t>พัฒนากลไกศูนย์ความปลอดภัยทางถนนตำบลผักแพว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234" t="0" r="-34157" b="-3699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57172" y="1307779"/>
            <a:ext cx="10242746" cy="2418641"/>
            <a:chOff x="0" y="0"/>
            <a:chExt cx="3405821" cy="8042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05821" cy="804223"/>
            </a:xfrm>
            <a:custGeom>
              <a:avLst/>
              <a:gdLst/>
              <a:ahLst/>
              <a:cxnLst/>
              <a:rect r="r" b="b" t="t" l="l"/>
              <a:pathLst>
                <a:path h="804223" w="3405821">
                  <a:moveTo>
                    <a:pt x="0" y="0"/>
                  </a:moveTo>
                  <a:lnTo>
                    <a:pt x="3405821" y="0"/>
                  </a:lnTo>
                  <a:lnTo>
                    <a:pt x="3405821" y="804223"/>
                  </a:lnTo>
                  <a:lnTo>
                    <a:pt x="0" y="804223"/>
                  </a:lnTo>
                  <a:close/>
                </a:path>
              </a:pathLst>
            </a:custGeom>
            <a:solidFill>
              <a:srgbClr val="3151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05821" cy="842323"/>
            </a:xfrm>
            <a:prstGeom prst="rect">
              <a:avLst/>
            </a:prstGeom>
          </p:spPr>
          <p:txBody>
            <a:bodyPr anchor="ctr" rtlCol="false" tIns="81280" lIns="81280" bIns="81280" rIns="81280"/>
            <a:lstStyle/>
            <a:p>
              <a:pPr algn="ctr">
                <a:lnSpc>
                  <a:spcPts val="246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-5400000">
            <a:off x="10889111" y="9637033"/>
            <a:ext cx="2434000" cy="2434000"/>
          </a:xfrm>
          <a:custGeom>
            <a:avLst/>
            <a:gdLst/>
            <a:ahLst/>
            <a:cxnLst/>
            <a:rect r="r" b="b" t="t" l="l"/>
            <a:pathLst>
              <a:path h="2434000" w="2434000">
                <a:moveTo>
                  <a:pt x="2433999" y="0"/>
                </a:moveTo>
                <a:lnTo>
                  <a:pt x="0" y="0"/>
                </a:lnTo>
                <a:lnTo>
                  <a:pt x="0" y="2434000"/>
                </a:lnTo>
                <a:lnTo>
                  <a:pt x="2433999" y="2434000"/>
                </a:lnTo>
                <a:lnTo>
                  <a:pt x="243399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5400000">
            <a:off x="15231586" y="-1709462"/>
            <a:ext cx="2235880" cy="2235880"/>
          </a:xfrm>
          <a:custGeom>
            <a:avLst/>
            <a:gdLst/>
            <a:ahLst/>
            <a:cxnLst/>
            <a:rect r="r" b="b" t="t" l="l"/>
            <a:pathLst>
              <a:path h="2235880" w="2235880">
                <a:moveTo>
                  <a:pt x="2235880" y="0"/>
                </a:moveTo>
                <a:lnTo>
                  <a:pt x="0" y="0"/>
                </a:lnTo>
                <a:lnTo>
                  <a:pt x="0" y="2235879"/>
                </a:lnTo>
                <a:lnTo>
                  <a:pt x="2235880" y="2235879"/>
                </a:lnTo>
                <a:lnTo>
                  <a:pt x="223588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305696" y="0"/>
            <a:ext cx="4569897" cy="1153270"/>
          </a:xfrm>
          <a:custGeom>
            <a:avLst/>
            <a:gdLst/>
            <a:ahLst/>
            <a:cxnLst/>
            <a:rect r="r" b="b" t="t" l="l"/>
            <a:pathLst>
              <a:path h="1153270" w="4569897">
                <a:moveTo>
                  <a:pt x="0" y="0"/>
                </a:moveTo>
                <a:lnTo>
                  <a:pt x="4569897" y="0"/>
                </a:lnTo>
                <a:lnTo>
                  <a:pt x="4569897" y="1153270"/>
                </a:lnTo>
                <a:lnTo>
                  <a:pt x="0" y="11532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033" r="0" b="-203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679918" y="1366392"/>
            <a:ext cx="10652049" cy="227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7"/>
              </a:lnSpc>
            </a:pPr>
            <a:r>
              <a:rPr lang="en-US" sz="6505" b="true">
                <a:solidFill>
                  <a:srgbClr val="FFFFFF"/>
                </a:solidFill>
                <a:latin typeface="Emmali Bold"/>
                <a:ea typeface="Emmali Bold"/>
                <a:cs typeface="Emmali Bold"/>
                <a:sym typeface="Emmali Bold"/>
              </a:rPr>
              <a:t>ความเป็นมา</a:t>
            </a:r>
          </a:p>
          <a:p>
            <a:pPr algn="ctr">
              <a:lnSpc>
                <a:spcPts val="9107"/>
              </a:lnSpc>
            </a:pPr>
            <a:r>
              <a:rPr lang="en-US" sz="6505" b="true">
                <a:solidFill>
                  <a:srgbClr val="FFFFFF"/>
                </a:solidFill>
                <a:latin typeface="Emmali Bold"/>
                <a:ea typeface="Emmali Bold"/>
                <a:cs typeface="Emmali Bold"/>
                <a:sym typeface="Emmali Bold"/>
              </a:rPr>
              <a:t> หลักการและเหตุผล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5617" y="4122573"/>
            <a:ext cx="11320765" cy="5356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548"/>
              </a:lnSpc>
            </a:pPr>
            <a:r>
              <a:rPr lang="en-US" sz="6106" b="true">
                <a:solidFill>
                  <a:srgbClr val="3151B2"/>
                </a:solidFill>
                <a:latin typeface="Emmali Bold"/>
                <a:ea typeface="Emmali Bold"/>
                <a:cs typeface="Emmali Bold"/>
                <a:sym typeface="Emmali Bold"/>
              </a:rPr>
              <a:t>1.1 สถานการณ์ปัญหาของพื้นที่</a:t>
            </a:r>
          </a:p>
          <a:p>
            <a:pPr algn="just">
              <a:lnSpc>
                <a:spcPts val="8548"/>
              </a:lnSpc>
            </a:pPr>
            <a:r>
              <a:rPr lang="en-US" sz="6106" b="true">
                <a:solidFill>
                  <a:srgbClr val="3151B2"/>
                </a:solidFill>
                <a:latin typeface="Emmali Bold"/>
                <a:ea typeface="Emmali Bold"/>
                <a:cs typeface="Emmali Bold"/>
                <a:sym typeface="Emmali Bold"/>
              </a:rPr>
              <a:t>1.2 สาเหตุของปัญหา</a:t>
            </a:r>
          </a:p>
          <a:p>
            <a:pPr algn="just">
              <a:lnSpc>
                <a:spcPts val="8548"/>
              </a:lnSpc>
            </a:pPr>
            <a:r>
              <a:rPr lang="en-US" sz="6106" b="true">
                <a:solidFill>
                  <a:srgbClr val="3151B2"/>
                </a:solidFill>
                <a:latin typeface="Emmali Bold"/>
                <a:ea typeface="Emmali Bold"/>
                <a:cs typeface="Emmali Bold"/>
                <a:sym typeface="Emmali Bold"/>
              </a:rPr>
              <a:t>1.3 แนวทางการแก้ไขปัญหา</a:t>
            </a:r>
          </a:p>
          <a:p>
            <a:pPr algn="just">
              <a:lnSpc>
                <a:spcPts val="8548"/>
              </a:lnSpc>
            </a:pPr>
            <a:r>
              <a:rPr lang="en-US" sz="6106" b="true">
                <a:solidFill>
                  <a:srgbClr val="3151B2"/>
                </a:solidFill>
                <a:latin typeface="Emmali Bold"/>
                <a:ea typeface="Emmali Bold"/>
                <a:cs typeface="Emmali Bold"/>
                <a:sym typeface="Emmali Bold"/>
              </a:rPr>
              <a:t>1.4 ประโยชน์ที่คาดว่าจะเกิดขึ้น</a:t>
            </a:r>
          </a:p>
          <a:p>
            <a:pPr algn="just">
              <a:lnSpc>
                <a:spcPts val="8548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513121" y="9007421"/>
            <a:ext cx="18801121" cy="1279579"/>
          </a:xfrm>
          <a:custGeom>
            <a:avLst/>
            <a:gdLst/>
            <a:ahLst/>
            <a:cxnLst/>
            <a:rect r="r" b="b" t="t" l="l"/>
            <a:pathLst>
              <a:path h="1279579" w="18801121">
                <a:moveTo>
                  <a:pt x="0" y="0"/>
                </a:moveTo>
                <a:lnTo>
                  <a:pt x="18801121" y="0"/>
                </a:lnTo>
                <a:lnTo>
                  <a:pt x="18801121" y="1279579"/>
                </a:lnTo>
                <a:lnTo>
                  <a:pt x="0" y="12795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317" r="0" b="-10391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391" t="-884" r="0" b="-3610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1164" y="337357"/>
            <a:ext cx="17725672" cy="1907750"/>
            <a:chOff x="0" y="0"/>
            <a:chExt cx="5001953" cy="5383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01954" cy="538342"/>
            </a:xfrm>
            <a:custGeom>
              <a:avLst/>
              <a:gdLst/>
              <a:ahLst/>
              <a:cxnLst/>
              <a:rect r="r" b="b" t="t" l="l"/>
              <a:pathLst>
                <a:path h="538342" w="5001954">
                  <a:moveTo>
                    <a:pt x="0" y="0"/>
                  </a:moveTo>
                  <a:lnTo>
                    <a:pt x="5001954" y="0"/>
                  </a:lnTo>
                  <a:lnTo>
                    <a:pt x="5001954" y="538342"/>
                  </a:lnTo>
                  <a:lnTo>
                    <a:pt x="0" y="538342"/>
                  </a:lnTo>
                  <a:close/>
                </a:path>
              </a:pathLst>
            </a:custGeom>
            <a:solidFill>
              <a:srgbClr val="3151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01953" cy="576442"/>
            </a:xfrm>
            <a:prstGeom prst="rect">
              <a:avLst/>
            </a:prstGeom>
          </p:spPr>
          <p:txBody>
            <a:bodyPr anchor="ctr" rtlCol="false" tIns="81280" lIns="81280" bIns="81280" rIns="81280"/>
            <a:lstStyle/>
            <a:p>
              <a:pPr algn="ctr">
                <a:lnSpc>
                  <a:spcPts val="246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-5400000">
            <a:off x="16332138" y="9693442"/>
            <a:ext cx="2434000" cy="2434000"/>
          </a:xfrm>
          <a:custGeom>
            <a:avLst/>
            <a:gdLst/>
            <a:ahLst/>
            <a:cxnLst/>
            <a:rect r="r" b="b" t="t" l="l"/>
            <a:pathLst>
              <a:path h="2434000" w="2434000">
                <a:moveTo>
                  <a:pt x="2434000" y="0"/>
                </a:moveTo>
                <a:lnTo>
                  <a:pt x="0" y="0"/>
                </a:lnTo>
                <a:lnTo>
                  <a:pt x="0" y="2434000"/>
                </a:lnTo>
                <a:lnTo>
                  <a:pt x="2434000" y="2434000"/>
                </a:lnTo>
                <a:lnTo>
                  <a:pt x="24340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5400000">
            <a:off x="8691706" y="-1769851"/>
            <a:ext cx="2235880" cy="2235880"/>
          </a:xfrm>
          <a:custGeom>
            <a:avLst/>
            <a:gdLst/>
            <a:ahLst/>
            <a:cxnLst/>
            <a:rect r="r" b="b" t="t" l="l"/>
            <a:pathLst>
              <a:path h="2235880" w="2235880">
                <a:moveTo>
                  <a:pt x="2235880" y="0"/>
                </a:moveTo>
                <a:lnTo>
                  <a:pt x="0" y="0"/>
                </a:lnTo>
                <a:lnTo>
                  <a:pt x="0" y="2235880"/>
                </a:lnTo>
                <a:lnTo>
                  <a:pt x="2235880" y="2235880"/>
                </a:lnTo>
                <a:lnTo>
                  <a:pt x="223588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457901"/>
            <a:ext cx="16230600" cy="1518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404"/>
              </a:lnSpc>
            </a:pPr>
            <a:r>
              <a:rPr lang="en-US" sz="886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1.1 สถานการณ์ปัญหาของพื้นที่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9412" y="2518719"/>
            <a:ext cx="16809726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ตำบลผักแพว อำเภอกันทรารมย์ จังหวัดศรีสะเกษ มีประชากรทั้งหมด 8,400 คน จากการวิเคราะห์ข้อมูลอุบัติเหตุจราจรย้อนหลัง 2 ปี (2566-2567) พบสถานการณ์ที่น่าเป็นห่วงอย่างมาก คือ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9720" y="4185031"/>
            <a:ext cx="16224609" cy="39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77551" indent="-488776" lvl="1">
              <a:lnSpc>
                <a:spcPts val="6338"/>
              </a:lnSpc>
              <a:buFont typeface="Arial"/>
              <a:buChar char="•"/>
            </a:pPr>
            <a:r>
              <a:rPr lang="en-US" sz="4527">
                <a:solidFill>
                  <a:srgbClr val="2B485F"/>
                </a:solidFill>
                <a:latin typeface="Emmali"/>
                <a:ea typeface="Emmali"/>
                <a:cs typeface="Emmali"/>
                <a:sym typeface="Emmali"/>
              </a:rPr>
              <a:t>จำนวนครั้งที่เกิดอุบัติเหตุเพิ่มขึ้น</a:t>
            </a:r>
            <a:r>
              <a:rPr lang="en-US" sz="4527">
                <a:solidFill>
                  <a:srgbClr val="2B485F"/>
                </a:solidFill>
                <a:latin typeface="Emmali"/>
                <a:ea typeface="Emmali"/>
                <a:cs typeface="Emmali"/>
                <a:sym typeface="Emmali"/>
              </a:rPr>
              <a:t> 31.3% (จาก 16 ครั้งเป็น 21 ครั้ง)</a:t>
            </a:r>
          </a:p>
          <a:p>
            <a:pPr algn="just" marL="977551" indent="-488776" lvl="1">
              <a:lnSpc>
                <a:spcPts val="6338"/>
              </a:lnSpc>
              <a:buFont typeface="Arial"/>
              <a:buChar char="•"/>
            </a:pPr>
            <a:r>
              <a:rPr lang="en-US" sz="4527">
                <a:solidFill>
                  <a:srgbClr val="2B485F"/>
                </a:solidFill>
                <a:latin typeface="Emmali"/>
                <a:ea typeface="Emmali"/>
                <a:cs typeface="Emmali"/>
                <a:sym typeface="Emmali"/>
              </a:rPr>
              <a:t>จำนวนผู้บาดเจ็บเพิ่มขึ้น 33.3% (จาก 15 คนเป็น 20 คน)</a:t>
            </a:r>
          </a:p>
          <a:p>
            <a:pPr algn="just" marL="977551" indent="-488776" lvl="1">
              <a:lnSpc>
                <a:spcPts val="6338"/>
              </a:lnSpc>
              <a:buFont typeface="Arial"/>
              <a:buChar char="•"/>
            </a:pPr>
            <a:r>
              <a:rPr lang="en-US" sz="4527">
                <a:solidFill>
                  <a:srgbClr val="2B485F"/>
                </a:solidFill>
                <a:latin typeface="Emmali"/>
                <a:ea typeface="Emmali"/>
                <a:cs typeface="Emmali"/>
                <a:sym typeface="Emmali"/>
              </a:rPr>
              <a:t>จำนวนบาดเจ็บรุนแรงเพิ่มขึ้น 66.7% (จาก 3 คนเป็น 5 คน)</a:t>
            </a:r>
          </a:p>
          <a:p>
            <a:pPr algn="just" marL="977551" indent="-488776" lvl="1">
              <a:lnSpc>
                <a:spcPts val="6338"/>
              </a:lnSpc>
              <a:buFont typeface="Arial"/>
              <a:buChar char="•"/>
            </a:pPr>
            <a:r>
              <a:rPr lang="en-US" sz="4527">
                <a:solidFill>
                  <a:srgbClr val="2B485F"/>
                </a:solidFill>
                <a:latin typeface="Emmali"/>
                <a:ea typeface="Emmali"/>
                <a:cs typeface="Emmali"/>
                <a:sym typeface="Emmali"/>
              </a:rPr>
              <a:t>ต้นทุนทางสังคมเพิ่มขึ้น 10.3% (จาก 3.27 ล้านบาทเป็น 3.6 ล้านบาท)</a:t>
            </a:r>
          </a:p>
          <a:p>
            <a:pPr algn="just">
              <a:lnSpc>
                <a:spcPts val="6338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513121" y="9007421"/>
            <a:ext cx="18801121" cy="1279579"/>
          </a:xfrm>
          <a:custGeom>
            <a:avLst/>
            <a:gdLst/>
            <a:ahLst/>
            <a:cxnLst/>
            <a:rect r="r" b="b" t="t" l="l"/>
            <a:pathLst>
              <a:path h="1279579" w="18801121">
                <a:moveTo>
                  <a:pt x="0" y="0"/>
                </a:moveTo>
                <a:lnTo>
                  <a:pt x="18801121" y="0"/>
                </a:lnTo>
                <a:lnTo>
                  <a:pt x="18801121" y="1279579"/>
                </a:lnTo>
                <a:lnTo>
                  <a:pt x="0" y="12795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317" r="0" b="-10391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234" t="0" r="-34157" b="-3699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41408" y="1196071"/>
            <a:ext cx="11390956" cy="1179304"/>
            <a:chOff x="0" y="0"/>
            <a:chExt cx="4451087" cy="4608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51087" cy="460821"/>
            </a:xfrm>
            <a:custGeom>
              <a:avLst/>
              <a:gdLst/>
              <a:ahLst/>
              <a:cxnLst/>
              <a:rect r="r" b="b" t="t" l="l"/>
              <a:pathLst>
                <a:path h="460821" w="4451087">
                  <a:moveTo>
                    <a:pt x="203200" y="0"/>
                  </a:moveTo>
                  <a:lnTo>
                    <a:pt x="4451087" y="0"/>
                  </a:lnTo>
                  <a:lnTo>
                    <a:pt x="4247887" y="460821"/>
                  </a:lnTo>
                  <a:lnTo>
                    <a:pt x="0" y="4608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151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66675"/>
              <a:ext cx="4247887" cy="527496"/>
            </a:xfrm>
            <a:prstGeom prst="rect">
              <a:avLst/>
            </a:prstGeom>
          </p:spPr>
          <p:txBody>
            <a:bodyPr anchor="ctr" rtlCol="false" tIns="81280" lIns="81280" bIns="81280" rIns="81280"/>
            <a:lstStyle/>
            <a:p>
              <a:pPr algn="ctr">
                <a:lnSpc>
                  <a:spcPts val="425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-5400000">
            <a:off x="658481" y="-1729771"/>
            <a:ext cx="2235880" cy="2235880"/>
          </a:xfrm>
          <a:custGeom>
            <a:avLst/>
            <a:gdLst/>
            <a:ahLst/>
            <a:cxnLst/>
            <a:rect r="r" b="b" t="t" l="l"/>
            <a:pathLst>
              <a:path h="2235880" w="2235880">
                <a:moveTo>
                  <a:pt x="2235879" y="0"/>
                </a:moveTo>
                <a:lnTo>
                  <a:pt x="0" y="0"/>
                </a:lnTo>
                <a:lnTo>
                  <a:pt x="0" y="2235879"/>
                </a:lnTo>
                <a:lnTo>
                  <a:pt x="2235879" y="2235879"/>
                </a:lnTo>
                <a:lnTo>
                  <a:pt x="223587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5400000">
            <a:off x="15854000" y="9693842"/>
            <a:ext cx="2434000" cy="2434000"/>
          </a:xfrm>
          <a:custGeom>
            <a:avLst/>
            <a:gdLst/>
            <a:ahLst/>
            <a:cxnLst/>
            <a:rect r="r" b="b" t="t" l="l"/>
            <a:pathLst>
              <a:path h="2434000" w="2434000">
                <a:moveTo>
                  <a:pt x="2434000" y="0"/>
                </a:moveTo>
                <a:lnTo>
                  <a:pt x="0" y="0"/>
                </a:lnTo>
                <a:lnTo>
                  <a:pt x="0" y="2434000"/>
                </a:lnTo>
                <a:lnTo>
                  <a:pt x="2434000" y="2434000"/>
                </a:lnTo>
                <a:lnTo>
                  <a:pt x="24340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19569" y="1310973"/>
            <a:ext cx="8778383" cy="713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3"/>
              </a:lnSpc>
              <a:spcBef>
                <a:spcPct val="0"/>
              </a:spcBef>
            </a:pPr>
            <a:r>
              <a:rPr lang="en-US" sz="4159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การเพิ่มขึ้นของอุบัติเหตุอย่างต่อเนื่อง: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67817" y="2375375"/>
            <a:ext cx="15586184" cy="7381615"/>
          </a:xfrm>
          <a:custGeom>
            <a:avLst/>
            <a:gdLst/>
            <a:ahLst/>
            <a:cxnLst/>
            <a:rect r="r" b="b" t="t" l="l"/>
            <a:pathLst>
              <a:path h="7381615" w="15586184">
                <a:moveTo>
                  <a:pt x="0" y="0"/>
                </a:moveTo>
                <a:lnTo>
                  <a:pt x="15586183" y="0"/>
                </a:lnTo>
                <a:lnTo>
                  <a:pt x="15586183" y="7381615"/>
                </a:lnTo>
                <a:lnTo>
                  <a:pt x="0" y="73816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659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718103" y="42801"/>
            <a:ext cx="4569897" cy="1153270"/>
          </a:xfrm>
          <a:custGeom>
            <a:avLst/>
            <a:gdLst/>
            <a:ahLst/>
            <a:cxnLst/>
            <a:rect r="r" b="b" t="t" l="l"/>
            <a:pathLst>
              <a:path h="1153270" w="4569897">
                <a:moveTo>
                  <a:pt x="0" y="0"/>
                </a:moveTo>
                <a:lnTo>
                  <a:pt x="4569897" y="0"/>
                </a:lnTo>
                <a:lnTo>
                  <a:pt x="4569897" y="1153270"/>
                </a:lnTo>
                <a:lnTo>
                  <a:pt x="0" y="11532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033" r="0" b="-2033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-38805" t="0" r="-25586" b="-3699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30442" y="-1615612"/>
            <a:ext cx="19948885" cy="4263631"/>
            <a:chOff x="0" y="0"/>
            <a:chExt cx="5629315" cy="12031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29315" cy="1203141"/>
            </a:xfrm>
            <a:custGeom>
              <a:avLst/>
              <a:gdLst/>
              <a:ahLst/>
              <a:cxnLst/>
              <a:rect r="r" b="b" t="t" l="l"/>
              <a:pathLst>
                <a:path h="1203141" w="5629315">
                  <a:moveTo>
                    <a:pt x="0" y="0"/>
                  </a:moveTo>
                  <a:lnTo>
                    <a:pt x="5629315" y="0"/>
                  </a:lnTo>
                  <a:lnTo>
                    <a:pt x="5629315" y="1203141"/>
                  </a:lnTo>
                  <a:lnTo>
                    <a:pt x="0" y="1203141"/>
                  </a:lnTo>
                  <a:close/>
                </a:path>
              </a:pathLst>
            </a:custGeom>
            <a:solidFill>
              <a:srgbClr val="3151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629315" cy="1241241"/>
            </a:xfrm>
            <a:prstGeom prst="rect">
              <a:avLst/>
            </a:prstGeom>
          </p:spPr>
          <p:txBody>
            <a:bodyPr anchor="ctr" rtlCol="false" tIns="81280" lIns="81280" bIns="81280" rIns="81280"/>
            <a:lstStyle/>
            <a:p>
              <a:pPr algn="ctr">
                <a:lnSpc>
                  <a:spcPts val="246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7727730" y="5703313"/>
            <a:ext cx="2235880" cy="2235880"/>
          </a:xfrm>
          <a:custGeom>
            <a:avLst/>
            <a:gdLst/>
            <a:ahLst/>
            <a:cxnLst/>
            <a:rect r="r" b="b" t="t" l="l"/>
            <a:pathLst>
              <a:path h="2235880" w="2235880">
                <a:moveTo>
                  <a:pt x="2235880" y="2235880"/>
                </a:moveTo>
                <a:lnTo>
                  <a:pt x="0" y="2235880"/>
                </a:lnTo>
                <a:lnTo>
                  <a:pt x="0" y="0"/>
                </a:lnTo>
                <a:lnTo>
                  <a:pt x="2235880" y="0"/>
                </a:lnTo>
                <a:lnTo>
                  <a:pt x="2235880" y="223588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41092" y="2648019"/>
            <a:ext cx="194447" cy="7638981"/>
          </a:xfrm>
          <a:custGeom>
            <a:avLst/>
            <a:gdLst/>
            <a:ahLst/>
            <a:cxnLst/>
            <a:rect r="r" b="b" t="t" l="l"/>
            <a:pathLst>
              <a:path h="7638981" w="194447">
                <a:moveTo>
                  <a:pt x="0" y="0"/>
                </a:moveTo>
                <a:lnTo>
                  <a:pt x="194447" y="0"/>
                </a:lnTo>
                <a:lnTo>
                  <a:pt x="194447" y="7638981"/>
                </a:lnTo>
                <a:lnTo>
                  <a:pt x="0" y="76389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457901"/>
            <a:ext cx="16230600" cy="1518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404"/>
              </a:lnSpc>
            </a:pPr>
            <a:r>
              <a:rPr lang="en-US" sz="886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1.1 สถานการณ์ปัญหาของพื้นที่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2718" y="3524681"/>
            <a:ext cx="8444482" cy="3180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7"/>
              </a:lnSpc>
              <a:spcBef>
                <a:spcPct val="0"/>
              </a:spcBef>
            </a:pPr>
            <a:r>
              <a:rPr lang="en-US" sz="3033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ปัจจัยเสี่ยงหลัก:</a:t>
            </a:r>
          </a:p>
          <a:p>
            <a:pPr algn="just" marL="655025" indent="-327513" lvl="1">
              <a:lnSpc>
                <a:spcPts val="4247"/>
              </a:lnSpc>
              <a:buFont typeface="Arial"/>
              <a:buChar char="•"/>
            </a:pPr>
            <a:r>
              <a:rPr lang="en-US" sz="3033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การไม่สวมหมวกนิรภัย 52.4% (วิกฤต)</a:t>
            </a:r>
          </a:p>
          <a:p>
            <a:pPr algn="just" marL="655025" indent="-327513" lvl="1">
              <a:lnSpc>
                <a:spcPts val="4247"/>
              </a:lnSpc>
              <a:buFont typeface="Arial"/>
              <a:buChar char="•"/>
            </a:pPr>
            <a:r>
              <a:rPr lang="en-US" sz="3033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การขับรถเร็ว 33.3% (สูงมาก)</a:t>
            </a:r>
          </a:p>
          <a:p>
            <a:pPr algn="just" marL="655025" indent="-327513" lvl="1">
              <a:lnSpc>
                <a:spcPts val="4247"/>
              </a:lnSpc>
              <a:buFont typeface="Arial"/>
              <a:buChar char="•"/>
            </a:pPr>
            <a:r>
              <a:rPr lang="en-US" sz="3033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การดื่มแล้วขับ 19.0% (สูง)</a:t>
            </a:r>
          </a:p>
          <a:p>
            <a:pPr algn="just" marL="655025" indent="-327513" lvl="1">
              <a:lnSpc>
                <a:spcPts val="4247"/>
              </a:lnSpc>
              <a:buFont typeface="Arial"/>
              <a:buChar char="•"/>
            </a:pPr>
            <a:r>
              <a:rPr lang="en-US" sz="3033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ปัจจัยเสี่ยงใหม่: สารเสพติดและกระท่อม 4.8%</a:t>
            </a:r>
          </a:p>
          <a:p>
            <a:pPr algn="just">
              <a:lnSpc>
                <a:spcPts val="424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456624" y="3666172"/>
            <a:ext cx="8040439" cy="288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กลุ่มเสี่ยงสูง: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อายุ 15-29 ปี: 42.9% ของผู้บาดเจ็บ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รถจักรยานยนต์: 81.0% ของอุบัติเหตุ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ช่วงเวลา 18:00-24:00 น.: 38.1% ของเหตุการณ์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ถนนสายหลัก: 57.1% ของจุดเกิดเหตุ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513121" y="9007421"/>
            <a:ext cx="18801121" cy="1279579"/>
          </a:xfrm>
          <a:custGeom>
            <a:avLst/>
            <a:gdLst/>
            <a:ahLst/>
            <a:cxnLst/>
            <a:rect r="r" b="b" t="t" l="l"/>
            <a:pathLst>
              <a:path h="1279579" w="18801121">
                <a:moveTo>
                  <a:pt x="0" y="0"/>
                </a:moveTo>
                <a:lnTo>
                  <a:pt x="18801121" y="0"/>
                </a:lnTo>
                <a:lnTo>
                  <a:pt x="18801121" y="1279579"/>
                </a:lnTo>
                <a:lnTo>
                  <a:pt x="0" y="1279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5317" r="0" b="-10391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4391" b="-3699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43976" y="1265403"/>
            <a:ext cx="11111388" cy="1735469"/>
            <a:chOff x="0" y="0"/>
            <a:chExt cx="4565170" cy="7130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65170" cy="713026"/>
            </a:xfrm>
            <a:custGeom>
              <a:avLst/>
              <a:gdLst/>
              <a:ahLst/>
              <a:cxnLst/>
              <a:rect r="r" b="b" t="t" l="l"/>
              <a:pathLst>
                <a:path h="713026" w="4565170">
                  <a:moveTo>
                    <a:pt x="203200" y="0"/>
                  </a:moveTo>
                  <a:lnTo>
                    <a:pt x="4565170" y="0"/>
                  </a:lnTo>
                  <a:lnTo>
                    <a:pt x="4361970" y="713026"/>
                  </a:lnTo>
                  <a:lnTo>
                    <a:pt x="0" y="7130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151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66675"/>
              <a:ext cx="4361970" cy="779701"/>
            </a:xfrm>
            <a:prstGeom prst="rect">
              <a:avLst/>
            </a:prstGeom>
          </p:spPr>
          <p:txBody>
            <a:bodyPr anchor="ctr" rtlCol="false" tIns="81280" lIns="81280" bIns="81280" rIns="81280"/>
            <a:lstStyle/>
            <a:p>
              <a:pPr algn="ctr">
                <a:lnSpc>
                  <a:spcPts val="425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412612">
            <a:off x="11140507" y="-1010833"/>
            <a:ext cx="14049198" cy="1404919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8528360">
              <a:off x="-159506" y="-159506"/>
              <a:ext cx="1131811" cy="1131811"/>
            </a:xfrm>
            <a:custGeom>
              <a:avLst/>
              <a:gdLst/>
              <a:ahLst/>
              <a:cxnLst/>
              <a:rect r="r" b="b" t="t" l="l"/>
              <a:pathLst>
                <a:path h="1131811" w="1131811">
                  <a:moveTo>
                    <a:pt x="628200" y="1129084"/>
                  </a:moveTo>
                  <a:lnTo>
                    <a:pt x="4762" y="644438"/>
                  </a:lnTo>
                  <a:cubicBezTo>
                    <a:pt x="2339" y="642555"/>
                    <a:pt x="763" y="639785"/>
                    <a:pt x="382" y="636740"/>
                  </a:cubicBezTo>
                  <a:cubicBezTo>
                    <a:pt x="0" y="633695"/>
                    <a:pt x="844" y="630623"/>
                    <a:pt x="2728" y="628200"/>
                  </a:cubicBezTo>
                  <a:lnTo>
                    <a:pt x="487374" y="4762"/>
                  </a:lnTo>
                  <a:cubicBezTo>
                    <a:pt x="489257" y="2339"/>
                    <a:pt x="492027" y="763"/>
                    <a:pt x="495072" y="382"/>
                  </a:cubicBezTo>
                  <a:cubicBezTo>
                    <a:pt x="498117" y="0"/>
                    <a:pt x="501189" y="844"/>
                    <a:pt x="503612" y="2728"/>
                  </a:cubicBezTo>
                  <a:lnTo>
                    <a:pt x="1127050" y="487374"/>
                  </a:lnTo>
                  <a:cubicBezTo>
                    <a:pt x="1129473" y="489257"/>
                    <a:pt x="1131049" y="492027"/>
                    <a:pt x="1131430" y="495072"/>
                  </a:cubicBezTo>
                  <a:cubicBezTo>
                    <a:pt x="1131812" y="498117"/>
                    <a:pt x="1130968" y="501189"/>
                    <a:pt x="1129084" y="503612"/>
                  </a:cubicBezTo>
                  <a:lnTo>
                    <a:pt x="644438" y="1127050"/>
                  </a:lnTo>
                  <a:cubicBezTo>
                    <a:pt x="642555" y="1129473"/>
                    <a:pt x="639785" y="1131049"/>
                    <a:pt x="636740" y="1131430"/>
                  </a:cubicBezTo>
                  <a:cubicBezTo>
                    <a:pt x="633695" y="1131812"/>
                    <a:pt x="630623" y="1130968"/>
                    <a:pt x="628200" y="1129084"/>
                  </a:cubicBezTo>
                  <a:close/>
                </a:path>
              </a:pathLst>
            </a:custGeom>
            <a:blipFill>
              <a:blip r:embed="rId3"/>
              <a:stretch>
                <a:fillRect l="-23798" t="-4021" r="-412" b="-2367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28515" y="1382175"/>
            <a:ext cx="8721431" cy="277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189"/>
              </a:lnSpc>
              <a:spcBef>
                <a:spcPct val="0"/>
              </a:spcBef>
            </a:pPr>
            <a:r>
              <a:rPr lang="en-US" b="true" sz="7992">
                <a:solidFill>
                  <a:srgbClr val="FFFFFF"/>
                </a:solidFill>
                <a:latin typeface="Emmali Bold"/>
                <a:ea typeface="Emmali Bold"/>
                <a:cs typeface="Emmali Bold"/>
                <a:sym typeface="Emmali Bold"/>
              </a:rPr>
              <a:t>1.2 ส</a:t>
            </a:r>
            <a:r>
              <a:rPr lang="en-US" b="true" sz="7992" strike="noStrike" u="none">
                <a:solidFill>
                  <a:srgbClr val="FFFFFF"/>
                </a:solidFill>
                <a:latin typeface="Emmali Bold"/>
                <a:ea typeface="Emmali Bold"/>
                <a:cs typeface="Emmali Bold"/>
                <a:sym typeface="Emmali Bold"/>
              </a:rPr>
              <a:t>าเหตุของปัญหา</a:t>
            </a:r>
          </a:p>
          <a:p>
            <a:pPr algn="just" marL="0" indent="0" lvl="0">
              <a:lnSpc>
                <a:spcPts val="1118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331367" y="3715247"/>
            <a:ext cx="11882480" cy="363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B485F"/>
                </a:solidFill>
                <a:latin typeface="Sarabun"/>
                <a:ea typeface="Sarabun"/>
                <a:cs typeface="Sarabun"/>
                <a:sym typeface="Sarabun"/>
              </a:rPr>
              <a:t>ขาดกลไกการบริหารจัดการความปลอดภัยทางถนนในระดับตำบลที่เป็นระบบ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B485F"/>
                </a:solidFill>
                <a:latin typeface="Sarabun"/>
                <a:ea typeface="Sarabun"/>
                <a:cs typeface="Sarabun"/>
                <a:sym typeface="Sarabun"/>
              </a:rPr>
              <a:t>ไม่มีข้อมูลอุบัติเหตุุที่ชัดเจนและการวิเคราะห์จุดเสี่ยงอย่างเป็นระบบ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B485F"/>
                </a:solidFill>
                <a:latin typeface="Sarabun"/>
                <a:ea typeface="Sarabun"/>
                <a:cs typeface="Sarabun"/>
                <a:sym typeface="Sarabun"/>
              </a:rPr>
              <a:t>ขาดการมีส่วนร่วมของชุมชนในการป้องกันและแก้ไขปัญหาอุบัติเหตุ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B485F"/>
                </a:solidFill>
                <a:latin typeface="Sarabun"/>
                <a:ea typeface="Sarabun"/>
                <a:cs typeface="Sarabun"/>
                <a:sym typeface="Sarabun"/>
              </a:rPr>
              <a:t>ไม่มีมาตรการป้องกันและแก้ไขจุดเสี่ยงที่เหมาะสมกับบริบทของพื้นที่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B485F"/>
                </a:solidFill>
                <a:latin typeface="Sarabun"/>
                <a:ea typeface="Sarabun"/>
                <a:cs typeface="Sarabun"/>
                <a:sym typeface="Sarabun"/>
              </a:rPr>
              <a:t>ขาดการรณรงค์และสร้างจิตสำนึกด้านความปลอดภัยทางถนนอย่างต่อเนื่อง</a:t>
            </a:r>
          </a:p>
          <a:p>
            <a:pPr algn="just">
              <a:lnSpc>
                <a:spcPts val="4199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-5400000">
            <a:off x="-117815" y="-1729771"/>
            <a:ext cx="2235880" cy="2235880"/>
          </a:xfrm>
          <a:custGeom>
            <a:avLst/>
            <a:gdLst/>
            <a:ahLst/>
            <a:cxnLst/>
            <a:rect r="r" b="b" t="t" l="l"/>
            <a:pathLst>
              <a:path h="2235880" w="2235880">
                <a:moveTo>
                  <a:pt x="2235880" y="0"/>
                </a:moveTo>
                <a:lnTo>
                  <a:pt x="0" y="0"/>
                </a:lnTo>
                <a:lnTo>
                  <a:pt x="0" y="2235879"/>
                </a:lnTo>
                <a:lnTo>
                  <a:pt x="2235880" y="2235879"/>
                </a:lnTo>
                <a:lnTo>
                  <a:pt x="223588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-5400000">
            <a:off x="6599695" y="9671107"/>
            <a:ext cx="2434000" cy="2434000"/>
          </a:xfrm>
          <a:custGeom>
            <a:avLst/>
            <a:gdLst/>
            <a:ahLst/>
            <a:cxnLst/>
            <a:rect r="r" b="b" t="t" l="l"/>
            <a:pathLst>
              <a:path h="2434000" w="2434000">
                <a:moveTo>
                  <a:pt x="2434000" y="0"/>
                </a:moveTo>
                <a:lnTo>
                  <a:pt x="0" y="0"/>
                </a:lnTo>
                <a:lnTo>
                  <a:pt x="0" y="2433999"/>
                </a:lnTo>
                <a:lnTo>
                  <a:pt x="2434000" y="2433999"/>
                </a:lnTo>
                <a:lnTo>
                  <a:pt x="24340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-38805" t="0" r="-25586" b="-3699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468114" y="1266451"/>
            <a:ext cx="12833697" cy="1735469"/>
            <a:chOff x="0" y="0"/>
            <a:chExt cx="5272789" cy="7130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72789" cy="713026"/>
            </a:xfrm>
            <a:custGeom>
              <a:avLst/>
              <a:gdLst/>
              <a:ahLst/>
              <a:cxnLst/>
              <a:rect r="r" b="b" t="t" l="l"/>
              <a:pathLst>
                <a:path h="713026" w="5272789">
                  <a:moveTo>
                    <a:pt x="203200" y="0"/>
                  </a:moveTo>
                  <a:lnTo>
                    <a:pt x="5272789" y="0"/>
                  </a:lnTo>
                  <a:lnTo>
                    <a:pt x="5069589" y="713026"/>
                  </a:lnTo>
                  <a:lnTo>
                    <a:pt x="0" y="7130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151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66675"/>
              <a:ext cx="5069589" cy="779701"/>
            </a:xfrm>
            <a:prstGeom prst="rect">
              <a:avLst/>
            </a:prstGeom>
          </p:spPr>
          <p:txBody>
            <a:bodyPr anchor="ctr" rtlCol="false" tIns="81280" lIns="81280" bIns="81280" rIns="81280"/>
            <a:lstStyle/>
            <a:p>
              <a:pPr algn="ctr">
                <a:lnSpc>
                  <a:spcPts val="425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-8565064">
            <a:off x="-5446306" y="167058"/>
            <a:ext cx="10458901" cy="11207728"/>
          </a:xfrm>
          <a:custGeom>
            <a:avLst/>
            <a:gdLst/>
            <a:ahLst/>
            <a:cxnLst/>
            <a:rect r="r" b="b" t="t" l="l"/>
            <a:pathLst>
              <a:path h="11207728" w="10458901">
                <a:moveTo>
                  <a:pt x="10458901" y="0"/>
                </a:moveTo>
                <a:lnTo>
                  <a:pt x="0" y="0"/>
                </a:lnTo>
                <a:lnTo>
                  <a:pt x="0" y="11207728"/>
                </a:lnTo>
                <a:lnTo>
                  <a:pt x="10458901" y="11207728"/>
                </a:lnTo>
                <a:lnTo>
                  <a:pt x="10458901" y="0"/>
                </a:lnTo>
                <a:close/>
              </a:path>
            </a:pathLst>
          </a:custGeom>
          <a:blipFill>
            <a:blip r:embed="rId3"/>
            <a:stretch>
              <a:fillRect l="-23194" t="0" r="0" b="-18186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5400000">
            <a:off x="8789813" y="-1855105"/>
            <a:ext cx="2434000" cy="2434000"/>
          </a:xfrm>
          <a:custGeom>
            <a:avLst/>
            <a:gdLst/>
            <a:ahLst/>
            <a:cxnLst/>
            <a:rect r="r" b="b" t="t" l="l"/>
            <a:pathLst>
              <a:path h="2434000" w="2434000">
                <a:moveTo>
                  <a:pt x="2433999" y="0"/>
                </a:moveTo>
                <a:lnTo>
                  <a:pt x="0" y="0"/>
                </a:lnTo>
                <a:lnTo>
                  <a:pt x="0" y="2433999"/>
                </a:lnTo>
                <a:lnTo>
                  <a:pt x="2433999" y="2433999"/>
                </a:lnTo>
                <a:lnTo>
                  <a:pt x="243399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5400000">
            <a:off x="15333013" y="9694405"/>
            <a:ext cx="2235880" cy="2235880"/>
          </a:xfrm>
          <a:custGeom>
            <a:avLst/>
            <a:gdLst/>
            <a:ahLst/>
            <a:cxnLst/>
            <a:rect r="r" b="b" t="t" l="l"/>
            <a:pathLst>
              <a:path h="2235880" w="2235880">
                <a:moveTo>
                  <a:pt x="2235879" y="0"/>
                </a:moveTo>
                <a:lnTo>
                  <a:pt x="0" y="0"/>
                </a:lnTo>
                <a:lnTo>
                  <a:pt x="0" y="2235879"/>
                </a:lnTo>
                <a:lnTo>
                  <a:pt x="2235879" y="2235879"/>
                </a:lnTo>
                <a:lnTo>
                  <a:pt x="223587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40249" y="1290957"/>
            <a:ext cx="12025620" cy="277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189"/>
              </a:lnSpc>
            </a:pPr>
            <a:r>
              <a:rPr lang="en-US" sz="7992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1.3แนวทางการแก้ไขปัญหา</a:t>
            </a:r>
          </a:p>
          <a:p>
            <a:pPr algn="just" marL="0" indent="0" lvl="0">
              <a:lnSpc>
                <a:spcPts val="1118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430643" y="3562350"/>
            <a:ext cx="11426715" cy="311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2B485F"/>
                </a:solidFill>
                <a:latin typeface="Sarabun"/>
                <a:ea typeface="Sarabun"/>
                <a:cs typeface="Sarabun"/>
                <a:sym typeface="Sarabun"/>
              </a:rPr>
              <a:t>องค์การบริหารส่วนตำบลผักแพว มีจุดแข็งในการเป็นหน่วยงานปกครองส่วนท้องถิ่นที่มีอำนาจหน้าที่โดยตรงในการจัดการปัญหาความปลอดภัยทางถนน มีข้อมูลประชากรและพื้นที่ครบถ้วน รวมทั้งมีเครือข่ายการทำงานกับหน่วยงานและองค์กรต่างๆ ในพื้นที่</a:t>
            </a:r>
          </a:p>
          <a:p>
            <a:pPr algn="just">
              <a:lnSpc>
                <a:spcPts val="4199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3468114" y="3201533"/>
            <a:ext cx="4671732" cy="631747"/>
            <a:chOff x="0" y="0"/>
            <a:chExt cx="5272789" cy="7130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72789" cy="713026"/>
            </a:xfrm>
            <a:custGeom>
              <a:avLst/>
              <a:gdLst/>
              <a:ahLst/>
              <a:cxnLst/>
              <a:rect r="r" b="b" t="t" l="l"/>
              <a:pathLst>
                <a:path h="713026" w="5272789">
                  <a:moveTo>
                    <a:pt x="203200" y="0"/>
                  </a:moveTo>
                  <a:lnTo>
                    <a:pt x="5272789" y="0"/>
                  </a:lnTo>
                  <a:lnTo>
                    <a:pt x="5069589" y="713026"/>
                  </a:lnTo>
                  <a:lnTo>
                    <a:pt x="0" y="7130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151B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66675"/>
              <a:ext cx="5069589" cy="779701"/>
            </a:xfrm>
            <a:prstGeom prst="rect">
              <a:avLst/>
            </a:prstGeom>
          </p:spPr>
          <p:txBody>
            <a:bodyPr anchor="ctr" rtlCol="false" tIns="81280" lIns="81280" bIns="81280" rIns="81280"/>
            <a:lstStyle/>
            <a:p>
              <a:pPr algn="ctr">
                <a:lnSpc>
                  <a:spcPts val="4255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285722" y="3134858"/>
            <a:ext cx="456896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4F3F4"/>
                </a:solidFill>
                <a:latin typeface="Sarabun"/>
                <a:ea typeface="Sarabun"/>
                <a:cs typeface="Sarabun"/>
                <a:sym typeface="Sarabun"/>
              </a:rPr>
              <a:t>จุดแข็ง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513121" y="9007421"/>
            <a:ext cx="18801121" cy="1279579"/>
          </a:xfrm>
          <a:custGeom>
            <a:avLst/>
            <a:gdLst/>
            <a:ahLst/>
            <a:cxnLst/>
            <a:rect r="r" b="b" t="t" l="l"/>
            <a:pathLst>
              <a:path h="1279579" w="18801121">
                <a:moveTo>
                  <a:pt x="0" y="0"/>
                </a:moveTo>
                <a:lnTo>
                  <a:pt x="18801121" y="0"/>
                </a:lnTo>
                <a:lnTo>
                  <a:pt x="18801121" y="1279579"/>
                </a:lnTo>
                <a:lnTo>
                  <a:pt x="0" y="12795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317" r="0" b="-10391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-38805" t="0" r="-25586" b="-3699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468114" y="1266451"/>
            <a:ext cx="12833697" cy="1735469"/>
            <a:chOff x="0" y="0"/>
            <a:chExt cx="5272789" cy="7130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72789" cy="713026"/>
            </a:xfrm>
            <a:custGeom>
              <a:avLst/>
              <a:gdLst/>
              <a:ahLst/>
              <a:cxnLst/>
              <a:rect r="r" b="b" t="t" l="l"/>
              <a:pathLst>
                <a:path h="713026" w="5272789">
                  <a:moveTo>
                    <a:pt x="203200" y="0"/>
                  </a:moveTo>
                  <a:lnTo>
                    <a:pt x="5272789" y="0"/>
                  </a:lnTo>
                  <a:lnTo>
                    <a:pt x="5069589" y="713026"/>
                  </a:lnTo>
                  <a:lnTo>
                    <a:pt x="0" y="7130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151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66675"/>
              <a:ext cx="5069589" cy="779701"/>
            </a:xfrm>
            <a:prstGeom prst="rect">
              <a:avLst/>
            </a:prstGeom>
          </p:spPr>
          <p:txBody>
            <a:bodyPr anchor="ctr" rtlCol="false" tIns="81280" lIns="81280" bIns="81280" rIns="81280"/>
            <a:lstStyle/>
            <a:p>
              <a:pPr algn="ctr">
                <a:lnSpc>
                  <a:spcPts val="425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-8565064">
            <a:off x="-5446306" y="167058"/>
            <a:ext cx="10458901" cy="11207728"/>
          </a:xfrm>
          <a:custGeom>
            <a:avLst/>
            <a:gdLst/>
            <a:ahLst/>
            <a:cxnLst/>
            <a:rect r="r" b="b" t="t" l="l"/>
            <a:pathLst>
              <a:path h="11207728" w="10458901">
                <a:moveTo>
                  <a:pt x="10458901" y="0"/>
                </a:moveTo>
                <a:lnTo>
                  <a:pt x="0" y="0"/>
                </a:lnTo>
                <a:lnTo>
                  <a:pt x="0" y="11207728"/>
                </a:lnTo>
                <a:lnTo>
                  <a:pt x="10458901" y="11207728"/>
                </a:lnTo>
                <a:lnTo>
                  <a:pt x="10458901" y="0"/>
                </a:lnTo>
                <a:close/>
              </a:path>
            </a:pathLst>
          </a:custGeom>
          <a:blipFill>
            <a:blip r:embed="rId3"/>
            <a:stretch>
              <a:fillRect l="-23194" t="0" r="0" b="-18186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5400000">
            <a:off x="8789813" y="-1855105"/>
            <a:ext cx="2434000" cy="2434000"/>
          </a:xfrm>
          <a:custGeom>
            <a:avLst/>
            <a:gdLst/>
            <a:ahLst/>
            <a:cxnLst/>
            <a:rect r="r" b="b" t="t" l="l"/>
            <a:pathLst>
              <a:path h="2434000" w="2434000">
                <a:moveTo>
                  <a:pt x="2433999" y="0"/>
                </a:moveTo>
                <a:lnTo>
                  <a:pt x="0" y="0"/>
                </a:lnTo>
                <a:lnTo>
                  <a:pt x="0" y="2433999"/>
                </a:lnTo>
                <a:lnTo>
                  <a:pt x="2433999" y="2433999"/>
                </a:lnTo>
                <a:lnTo>
                  <a:pt x="243399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5400000">
            <a:off x="15333013" y="9694405"/>
            <a:ext cx="2235880" cy="2235880"/>
          </a:xfrm>
          <a:custGeom>
            <a:avLst/>
            <a:gdLst/>
            <a:ahLst/>
            <a:cxnLst/>
            <a:rect r="r" b="b" t="t" l="l"/>
            <a:pathLst>
              <a:path h="2235880" w="2235880">
                <a:moveTo>
                  <a:pt x="2235879" y="0"/>
                </a:moveTo>
                <a:lnTo>
                  <a:pt x="0" y="0"/>
                </a:lnTo>
                <a:lnTo>
                  <a:pt x="0" y="2235879"/>
                </a:lnTo>
                <a:lnTo>
                  <a:pt x="2235879" y="2235879"/>
                </a:lnTo>
                <a:lnTo>
                  <a:pt x="223587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40249" y="1290957"/>
            <a:ext cx="12025620" cy="277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189"/>
              </a:lnSpc>
            </a:pPr>
            <a:r>
              <a:rPr lang="en-US" sz="7992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1.3แนวทางการแก้ไขปัญหา</a:t>
            </a:r>
          </a:p>
          <a:p>
            <a:pPr algn="just" marL="0" indent="0" lvl="0">
              <a:lnSpc>
                <a:spcPts val="1118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753979" y="3630570"/>
            <a:ext cx="11985385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2B485F"/>
                </a:solidFill>
                <a:latin typeface="Sarabun"/>
                <a:ea typeface="Sarabun"/>
                <a:cs typeface="Sarabun"/>
                <a:sym typeface="Sarabun"/>
              </a:rPr>
              <a:t>แนวทางการแก้ไขปัญหาจะเน้นการสร้างระบบบริหารจัดการความปลอดภัยทางถนนแบบบูรณาการ โดยการจัดตั้งศูนย์ปฏิบัติการจัดการความปลอดภัยทางถนนองค์กรปกครองส่วนท้องถิ่น (ศปถ.อปท.) การพัฒนาศักยภาพบุคลากรในการวิเคราะห์ข้อมูลและแก้ไขจุดเสี่ยง การสร้างการมีส่วนร่วมของชุมชน และการดำเนินมาตรการป้องกันและแก้ไขปัญหาอย่างเป็นระบบ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513121" y="9007421"/>
            <a:ext cx="18801121" cy="1279579"/>
          </a:xfrm>
          <a:custGeom>
            <a:avLst/>
            <a:gdLst/>
            <a:ahLst/>
            <a:cxnLst/>
            <a:rect r="r" b="b" t="t" l="l"/>
            <a:pathLst>
              <a:path h="1279579" w="18801121">
                <a:moveTo>
                  <a:pt x="0" y="0"/>
                </a:moveTo>
                <a:lnTo>
                  <a:pt x="18801121" y="0"/>
                </a:lnTo>
                <a:lnTo>
                  <a:pt x="18801121" y="1279579"/>
                </a:lnTo>
                <a:lnTo>
                  <a:pt x="0" y="12795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317" r="0" b="-10391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02668" y="226045"/>
            <a:ext cx="8613686" cy="8692710"/>
          </a:xfrm>
          <a:custGeom>
            <a:avLst/>
            <a:gdLst/>
            <a:ahLst/>
            <a:cxnLst/>
            <a:rect r="r" b="b" t="t" l="l"/>
            <a:pathLst>
              <a:path h="8692710" w="8613686">
                <a:moveTo>
                  <a:pt x="0" y="0"/>
                </a:moveTo>
                <a:lnTo>
                  <a:pt x="8613686" y="0"/>
                </a:lnTo>
                <a:lnTo>
                  <a:pt x="8613686" y="8692710"/>
                </a:lnTo>
                <a:lnTo>
                  <a:pt x="0" y="869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95587" y="1904664"/>
            <a:ext cx="113927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ruda Bold"/>
                <a:ea typeface="Garuda Bold"/>
                <a:cs typeface="Garuda Bold"/>
                <a:sym typeface="Garuda Bold"/>
              </a:rPr>
              <a:t>ครอบครัว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91591" y="2393536"/>
            <a:ext cx="107974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Garuda Bold"/>
                <a:ea typeface="Garuda Bold"/>
                <a:cs typeface="Garuda Bold"/>
                <a:sym typeface="Garuda Bold"/>
              </a:rPr>
              <a:t>เศรษฐกิจ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84831" y="1025940"/>
            <a:ext cx="65707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Garuda Bold"/>
                <a:ea typeface="Garuda Bold"/>
                <a:cs typeface="Garuda Bold"/>
                <a:sym typeface="Garuda Bold"/>
              </a:rPr>
              <a:t>สังคม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135112" y="4556964"/>
            <a:ext cx="956514" cy="95651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4"/>
                </a:lnSpc>
              </a:pPr>
            </a:p>
            <a:p>
              <a:pPr algn="ctr">
                <a:lnSpc>
                  <a:spcPts val="246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20601" y="3968220"/>
            <a:ext cx="1753445" cy="1255360"/>
            <a:chOff x="0" y="0"/>
            <a:chExt cx="1135292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5292" cy="812800"/>
            </a:xfrm>
            <a:custGeom>
              <a:avLst/>
              <a:gdLst/>
              <a:ahLst/>
              <a:cxnLst/>
              <a:rect r="r" b="b" t="t" l="l"/>
              <a:pathLst>
                <a:path h="812800" w="1135292">
                  <a:moveTo>
                    <a:pt x="567646" y="0"/>
                  </a:moveTo>
                  <a:cubicBezTo>
                    <a:pt x="254144" y="0"/>
                    <a:pt x="0" y="181951"/>
                    <a:pt x="0" y="406400"/>
                  </a:cubicBezTo>
                  <a:cubicBezTo>
                    <a:pt x="0" y="630849"/>
                    <a:pt x="254144" y="812800"/>
                    <a:pt x="567646" y="812800"/>
                  </a:cubicBezTo>
                  <a:cubicBezTo>
                    <a:pt x="881148" y="812800"/>
                    <a:pt x="1135292" y="630849"/>
                    <a:pt x="1135292" y="406400"/>
                  </a:cubicBezTo>
                  <a:cubicBezTo>
                    <a:pt x="1135292" y="181951"/>
                    <a:pt x="881148" y="0"/>
                    <a:pt x="5676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6434" y="38100"/>
              <a:ext cx="922425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4"/>
                </a:lnSpc>
              </a:pPr>
            </a:p>
            <a:p>
              <a:pPr algn="ctr">
                <a:lnSpc>
                  <a:spcPts val="246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79212" y="4106623"/>
            <a:ext cx="1585885" cy="1415052"/>
            <a:chOff x="0" y="0"/>
            <a:chExt cx="812800" cy="7252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725244"/>
            </a:xfrm>
            <a:custGeom>
              <a:avLst/>
              <a:gdLst/>
              <a:ahLst/>
              <a:cxnLst/>
              <a:rect r="r" b="b" t="t" l="l"/>
              <a:pathLst>
                <a:path h="725244" w="812800">
                  <a:moveTo>
                    <a:pt x="406400" y="0"/>
                  </a:moveTo>
                  <a:cubicBezTo>
                    <a:pt x="181951" y="0"/>
                    <a:pt x="0" y="162351"/>
                    <a:pt x="0" y="362622"/>
                  </a:cubicBezTo>
                  <a:cubicBezTo>
                    <a:pt x="0" y="562893"/>
                    <a:pt x="181951" y="725244"/>
                    <a:pt x="406400" y="725244"/>
                  </a:cubicBezTo>
                  <a:cubicBezTo>
                    <a:pt x="630849" y="725244"/>
                    <a:pt x="812800" y="562893"/>
                    <a:pt x="812800" y="362622"/>
                  </a:cubicBezTo>
                  <a:cubicBezTo>
                    <a:pt x="812800" y="1623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9892"/>
              <a:ext cx="660400" cy="627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4"/>
                </a:lnSpc>
              </a:pPr>
            </a:p>
            <a:p>
              <a:pPr algn="ctr">
                <a:lnSpc>
                  <a:spcPts val="2464"/>
                </a:lnSpc>
              </a:pPr>
            </a:p>
            <a:p>
              <a:pPr algn="ctr">
                <a:lnSpc>
                  <a:spcPts val="246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941907" y="5035221"/>
            <a:ext cx="956514" cy="95651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4"/>
                </a:lnSpc>
              </a:pPr>
            </a:p>
            <a:p>
              <a:pPr algn="ctr">
                <a:lnSpc>
                  <a:spcPts val="246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191591" y="3653436"/>
            <a:ext cx="1364911" cy="136491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4"/>
                </a:lnSpc>
              </a:pPr>
            </a:p>
            <a:p>
              <a:pPr algn="ctr">
                <a:lnSpc>
                  <a:spcPts val="246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525102" y="3883264"/>
            <a:ext cx="2195623" cy="1563958"/>
            <a:chOff x="0" y="0"/>
            <a:chExt cx="1627939" cy="115959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27939" cy="1159593"/>
            </a:xfrm>
            <a:custGeom>
              <a:avLst/>
              <a:gdLst/>
              <a:ahLst/>
              <a:cxnLst/>
              <a:rect r="r" b="b" t="t" l="l"/>
              <a:pathLst>
                <a:path h="1159593" w="1627939">
                  <a:moveTo>
                    <a:pt x="813970" y="0"/>
                  </a:moveTo>
                  <a:cubicBezTo>
                    <a:pt x="364427" y="0"/>
                    <a:pt x="0" y="259584"/>
                    <a:pt x="0" y="579796"/>
                  </a:cubicBezTo>
                  <a:cubicBezTo>
                    <a:pt x="0" y="900009"/>
                    <a:pt x="364427" y="1159593"/>
                    <a:pt x="813970" y="1159593"/>
                  </a:cubicBezTo>
                  <a:cubicBezTo>
                    <a:pt x="1263513" y="1159593"/>
                    <a:pt x="1627939" y="900009"/>
                    <a:pt x="1627939" y="579796"/>
                  </a:cubicBezTo>
                  <a:cubicBezTo>
                    <a:pt x="1627939" y="259584"/>
                    <a:pt x="1263513" y="0"/>
                    <a:pt x="8139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52619" y="70612"/>
              <a:ext cx="1322701" cy="980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4"/>
                </a:lnSpc>
              </a:pPr>
            </a:p>
            <a:p>
              <a:pPr algn="ctr">
                <a:lnSpc>
                  <a:spcPts val="2464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731465" y="4078707"/>
            <a:ext cx="956514" cy="95651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4"/>
                </a:lnSpc>
              </a:pPr>
            </a:p>
            <a:p>
              <a:pPr algn="ctr">
                <a:lnSpc>
                  <a:spcPts val="2464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595189" y="4335892"/>
            <a:ext cx="956514" cy="956514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4"/>
                </a:lnSpc>
              </a:pPr>
            </a:p>
            <a:p>
              <a:pPr algn="ctr">
                <a:lnSpc>
                  <a:spcPts val="2464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060183" y="4665243"/>
            <a:ext cx="956514" cy="956514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4"/>
                </a:lnSpc>
              </a:pPr>
            </a:p>
            <a:p>
              <a:pPr algn="ctr">
                <a:lnSpc>
                  <a:spcPts val="2464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391050" y="3968220"/>
            <a:ext cx="1903964" cy="1433485"/>
            <a:chOff x="0" y="0"/>
            <a:chExt cx="1079566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9566" cy="812800"/>
            </a:xfrm>
            <a:custGeom>
              <a:avLst/>
              <a:gdLst/>
              <a:ahLst/>
              <a:cxnLst/>
              <a:rect r="r" b="b" t="t" l="l"/>
              <a:pathLst>
                <a:path h="812800" w="1079566">
                  <a:moveTo>
                    <a:pt x="539783" y="0"/>
                  </a:moveTo>
                  <a:cubicBezTo>
                    <a:pt x="241669" y="0"/>
                    <a:pt x="0" y="181951"/>
                    <a:pt x="0" y="406400"/>
                  </a:cubicBezTo>
                  <a:cubicBezTo>
                    <a:pt x="0" y="630849"/>
                    <a:pt x="241669" y="812800"/>
                    <a:pt x="539783" y="812800"/>
                  </a:cubicBezTo>
                  <a:cubicBezTo>
                    <a:pt x="837897" y="812800"/>
                    <a:pt x="1079566" y="630849"/>
                    <a:pt x="1079566" y="406400"/>
                  </a:cubicBezTo>
                  <a:cubicBezTo>
                    <a:pt x="1079566" y="181951"/>
                    <a:pt x="837897" y="0"/>
                    <a:pt x="5397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01209" y="38100"/>
              <a:ext cx="877148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4"/>
                </a:lnSpc>
              </a:pPr>
            </a:p>
            <a:p>
              <a:pPr algn="ctr">
                <a:lnSpc>
                  <a:spcPts val="2464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958848" y="3429000"/>
            <a:ext cx="5980367" cy="5754952"/>
            <a:chOff x="0" y="0"/>
            <a:chExt cx="1575076" cy="151570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75076" cy="1515707"/>
            </a:xfrm>
            <a:custGeom>
              <a:avLst/>
              <a:gdLst/>
              <a:ahLst/>
              <a:cxnLst/>
              <a:rect r="r" b="b" t="t" l="l"/>
              <a:pathLst>
                <a:path h="1515707" w="1575076">
                  <a:moveTo>
                    <a:pt x="19418" y="0"/>
                  </a:moveTo>
                  <a:lnTo>
                    <a:pt x="1555658" y="0"/>
                  </a:lnTo>
                  <a:cubicBezTo>
                    <a:pt x="1566382" y="0"/>
                    <a:pt x="1575076" y="8694"/>
                    <a:pt x="1575076" y="19418"/>
                  </a:cubicBezTo>
                  <a:lnTo>
                    <a:pt x="1575076" y="1496289"/>
                  </a:lnTo>
                  <a:cubicBezTo>
                    <a:pt x="1575076" y="1501439"/>
                    <a:pt x="1573030" y="1506378"/>
                    <a:pt x="1569389" y="1510020"/>
                  </a:cubicBezTo>
                  <a:cubicBezTo>
                    <a:pt x="1565747" y="1513662"/>
                    <a:pt x="1560808" y="1515707"/>
                    <a:pt x="1555658" y="1515707"/>
                  </a:cubicBezTo>
                  <a:lnTo>
                    <a:pt x="19418" y="1515707"/>
                  </a:lnTo>
                  <a:cubicBezTo>
                    <a:pt x="14268" y="1515707"/>
                    <a:pt x="9329" y="1513662"/>
                    <a:pt x="5687" y="1510020"/>
                  </a:cubicBezTo>
                  <a:cubicBezTo>
                    <a:pt x="2046" y="1506378"/>
                    <a:pt x="0" y="1501439"/>
                    <a:pt x="0" y="1496289"/>
                  </a:cubicBezTo>
                  <a:lnTo>
                    <a:pt x="0" y="19418"/>
                  </a:lnTo>
                  <a:cubicBezTo>
                    <a:pt x="0" y="14268"/>
                    <a:pt x="2046" y="9329"/>
                    <a:pt x="5687" y="5687"/>
                  </a:cubicBezTo>
                  <a:cubicBezTo>
                    <a:pt x="9329" y="2046"/>
                    <a:pt x="14268" y="0"/>
                    <a:pt x="1941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575076" cy="1553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04"/>
                </a:lnSpc>
              </a:pPr>
              <a:r>
                <a:rPr lang="en-US" sz="1860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พื้นที่ตำบลผักแพวมีประชากรประมาณ 8,400 คน จากข้อมูลอุบัติเหตุ 2 ปีัย้อนหลัง 2566-2567 พบว่า </a:t>
              </a:r>
            </a:p>
            <a:p>
              <a:pPr algn="just" marL="401574" indent="-200787" lvl="1">
                <a:lnSpc>
                  <a:spcPts val="2604"/>
                </a:lnSpc>
                <a:buFont typeface="Arial"/>
                <a:buChar char="•"/>
              </a:pPr>
              <a:r>
                <a:rPr lang="en-US" sz="1860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จำนวนครั้งที่เกิดอุบัติเหตุเพิ่มขึ้น 31.3%</a:t>
              </a:r>
            </a:p>
            <a:p>
              <a:pPr algn="just">
                <a:lnSpc>
                  <a:spcPts val="2604"/>
                </a:lnSpc>
              </a:pPr>
              <a:r>
                <a:rPr lang="en-US" sz="1860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       </a:t>
              </a:r>
              <a:r>
                <a:rPr lang="en-US" sz="1860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(จาก 16 ครั้งเป็น 21 ครั้ง)</a:t>
              </a:r>
            </a:p>
            <a:p>
              <a:pPr algn="just" marL="401574" indent="-200787" lvl="1">
                <a:lnSpc>
                  <a:spcPts val="2604"/>
                </a:lnSpc>
                <a:buFont typeface="Arial"/>
                <a:buChar char="•"/>
              </a:pPr>
              <a:r>
                <a:rPr lang="en-US" sz="1860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จำนวนผู้บาดเจ็บเพิ่มขึ้น 33.3% (จาก 15 คนเป็น 20 คน)</a:t>
              </a:r>
            </a:p>
            <a:p>
              <a:pPr algn="just" marL="401574" indent="-200787" lvl="1">
                <a:lnSpc>
                  <a:spcPts val="2604"/>
                </a:lnSpc>
                <a:buFont typeface="Arial"/>
                <a:buChar char="•"/>
              </a:pPr>
              <a:r>
                <a:rPr lang="en-US" sz="1860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จำนวนบาดเจ็บรุนแรงเพิ่มขึ้น 66.7%</a:t>
              </a:r>
            </a:p>
            <a:p>
              <a:pPr algn="just">
                <a:lnSpc>
                  <a:spcPts val="2604"/>
                </a:lnSpc>
              </a:pPr>
              <a:r>
                <a:rPr lang="en-US" sz="1860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      </a:t>
              </a:r>
              <a:r>
                <a:rPr lang="en-US" sz="1860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 (จาก 3 คนเป็น 5 คน)</a:t>
              </a:r>
            </a:p>
            <a:p>
              <a:pPr algn="just" marL="401574" indent="-200787" lvl="1">
                <a:lnSpc>
                  <a:spcPts val="2604"/>
                </a:lnSpc>
                <a:buFont typeface="Arial"/>
                <a:buChar char="•"/>
              </a:pPr>
              <a:r>
                <a:rPr lang="en-US" sz="1860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ต้นทุนทางสังคมเพิ่มขึ้น 10.3% (จาก 3.27 ล้านบาทเป็น 3.6 ล้านบาท)</a:t>
              </a:r>
            </a:p>
            <a:p>
              <a:pPr algn="just">
                <a:lnSpc>
                  <a:spcPts val="2604"/>
                </a:lnSpc>
              </a:pPr>
              <a:r>
                <a:rPr lang="en-US" sz="1860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ปัจจัยเสี่ยงหลัก</a:t>
              </a:r>
            </a:p>
            <a:p>
              <a:pPr algn="just" marL="401574" indent="-200787" lvl="1">
                <a:lnSpc>
                  <a:spcPts val="2604"/>
                </a:lnSpc>
                <a:buFont typeface="Arial"/>
                <a:buChar char="•"/>
              </a:pPr>
              <a:r>
                <a:rPr lang="en-US" sz="1860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การไม่สวมหมวกนิรภัย </a:t>
              </a:r>
            </a:p>
            <a:p>
              <a:pPr algn="just">
                <a:lnSpc>
                  <a:spcPts val="2604"/>
                </a:lnSpc>
              </a:pPr>
              <a:r>
                <a:rPr lang="en-US" sz="1860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กลุ่มเสี่ยงสูง:</a:t>
              </a:r>
            </a:p>
            <a:p>
              <a:pPr algn="just" marL="401574" indent="-200787" lvl="1">
                <a:lnSpc>
                  <a:spcPts val="2604"/>
                </a:lnSpc>
                <a:buFont typeface="Arial"/>
                <a:buChar char="•"/>
              </a:pPr>
              <a:r>
                <a:rPr lang="en-US" sz="1860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อายุ 15-29 ปี: 42.9% ของผู้บาดเจ็บ</a:t>
              </a:r>
            </a:p>
            <a:p>
              <a:pPr algn="just" marL="401574" indent="-200787" lvl="1">
                <a:lnSpc>
                  <a:spcPts val="2604"/>
                </a:lnSpc>
                <a:buFont typeface="Arial"/>
                <a:buChar char="•"/>
              </a:pPr>
              <a:r>
                <a:rPr lang="en-US" sz="1860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รถจักรยานยนต์: 81.0% ของอุบัติเหตุ</a:t>
              </a:r>
            </a:p>
            <a:p>
              <a:pPr algn="just" marL="401574" indent="-200787" lvl="1">
                <a:lnSpc>
                  <a:spcPts val="2604"/>
                </a:lnSpc>
                <a:buFont typeface="Arial"/>
                <a:buChar char="•"/>
              </a:pPr>
              <a:r>
                <a:rPr lang="en-US" sz="1860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ช่วงเวลา 18:00-24:00 น.: 38.1% ของเหตุการณ์</a:t>
              </a:r>
            </a:p>
            <a:p>
              <a:pPr algn="just" marL="401574" indent="-200787" lvl="1">
                <a:lnSpc>
                  <a:spcPts val="2604"/>
                </a:lnSpc>
                <a:buFont typeface="Arial"/>
                <a:buChar char="•"/>
              </a:pPr>
              <a:r>
                <a:rPr lang="en-US" sz="1860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ถนนสายหลัก: 57.1% ของจุดเกิดเหตุ</a:t>
              </a:r>
            </a:p>
            <a:p>
              <a:pPr algn="just">
                <a:lnSpc>
                  <a:spcPts val="2604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8341140" y="4441334"/>
            <a:ext cx="2857520" cy="782246"/>
          </a:xfrm>
          <a:custGeom>
            <a:avLst/>
            <a:gdLst/>
            <a:ahLst/>
            <a:cxnLst/>
            <a:rect r="r" b="b" t="t" l="l"/>
            <a:pathLst>
              <a:path h="782246" w="2857520">
                <a:moveTo>
                  <a:pt x="0" y="0"/>
                </a:moveTo>
                <a:lnTo>
                  <a:pt x="2857520" y="0"/>
                </a:lnTo>
                <a:lnTo>
                  <a:pt x="2857520" y="782246"/>
                </a:lnTo>
                <a:lnTo>
                  <a:pt x="0" y="782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3718103" y="-89229"/>
            <a:ext cx="4569897" cy="1153270"/>
          </a:xfrm>
          <a:custGeom>
            <a:avLst/>
            <a:gdLst/>
            <a:ahLst/>
            <a:cxnLst/>
            <a:rect r="r" b="b" t="t" l="l"/>
            <a:pathLst>
              <a:path h="1153270" w="4569897">
                <a:moveTo>
                  <a:pt x="0" y="0"/>
                </a:moveTo>
                <a:lnTo>
                  <a:pt x="4569897" y="0"/>
                </a:lnTo>
                <a:lnTo>
                  <a:pt x="4569897" y="1153269"/>
                </a:lnTo>
                <a:lnTo>
                  <a:pt x="0" y="11532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033" r="0" b="-2033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6108380" y="3031540"/>
            <a:ext cx="134004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ผลกระทบ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248838" y="3530011"/>
            <a:ext cx="95205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ruda Bold"/>
                <a:ea typeface="Garuda Bold"/>
                <a:cs typeface="Garuda Bold"/>
                <a:sym typeface="Garuda Bold"/>
              </a:rPr>
              <a:t>กายภาพ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125098" y="3031540"/>
            <a:ext cx="3209769" cy="365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-153960" y="2181732"/>
            <a:ext cx="4029740" cy="1512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3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ต</a:t>
            </a:r>
            <a:r>
              <a:rPr lang="en-US" sz="220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าย 1 </a:t>
            </a:r>
          </a:p>
          <a:p>
            <a:pPr algn="ctr">
              <a:lnSpc>
                <a:spcPts val="3093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บาดเจ็บ 35 คน</a:t>
            </a:r>
          </a:p>
          <a:p>
            <a:pPr algn="ctr">
              <a:lnSpc>
                <a:spcPts val="3093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พิการ 2 คน</a:t>
            </a:r>
          </a:p>
          <a:p>
            <a:pPr algn="ctr">
              <a:lnSpc>
                <a:spcPts val="3093"/>
              </a:lnSpc>
              <a:spcBef>
                <a:spcPct val="0"/>
              </a:spcBef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3200892" y="87407"/>
            <a:ext cx="4029740" cy="1507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9985" indent="-189992" lvl="1">
              <a:lnSpc>
                <a:spcPts val="2464"/>
              </a:lnSpc>
              <a:buFont typeface="Arial"/>
              <a:buChar char="•"/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ส่งผลกระทบต่อสุขภาพจิต</a:t>
            </a:r>
          </a:p>
          <a:p>
            <a:pPr algn="l" marL="379985" indent="-189992" lvl="1">
              <a:lnSpc>
                <a:spcPts val="2464"/>
              </a:lnSpc>
              <a:buFont typeface="Arial"/>
              <a:buChar char="•"/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ความขัดแย้งในครอบครอบ/ครอบครัวแตกแยก</a:t>
            </a:r>
          </a:p>
          <a:p>
            <a:pPr algn="l" marL="379985" indent="-189992" lvl="1">
              <a:lnSpc>
                <a:spcPts val="2464"/>
              </a:lnSpc>
              <a:buFont typeface="Arial"/>
              <a:buChar char="•"/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เกิดคดีความ</a:t>
            </a:r>
          </a:p>
          <a:p>
            <a:pPr algn="ctr">
              <a:lnSpc>
                <a:spcPts val="2464"/>
              </a:lnSpc>
              <a:spcBef>
                <a:spcPct val="0"/>
              </a:spcBef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-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960794" y="809575"/>
            <a:ext cx="3051274" cy="1203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9985" indent="-189992" lvl="1">
              <a:lnSpc>
                <a:spcPts val="2464"/>
              </a:lnSpc>
              <a:buFont typeface="Arial"/>
              <a:buChar char="•"/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ค่าใช้จ่ายในการรักษาพยาบาล</a:t>
            </a:r>
          </a:p>
          <a:p>
            <a:pPr algn="l" marL="379985" indent="-189992" lvl="1">
              <a:lnSpc>
                <a:spcPts val="2464"/>
              </a:lnSpc>
              <a:buFont typeface="Arial"/>
              <a:buChar char="•"/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ยานพาหนะเสียหายน</a:t>
            </a:r>
          </a:p>
          <a:p>
            <a:pPr algn="l" marL="379985" indent="-189992" lvl="1">
              <a:lnSpc>
                <a:spcPts val="2464"/>
              </a:lnSpc>
              <a:buFont typeface="Arial"/>
              <a:buChar char="•"/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ครอบครัวขาดรายได้</a:t>
            </a:r>
          </a:p>
          <a:p>
            <a:pPr algn="l" marL="379985" indent="-189992" lvl="1">
              <a:lnSpc>
                <a:spcPts val="2464"/>
              </a:lnSpc>
              <a:buFont typeface="Arial"/>
              <a:buChar char="•"/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ค่าใช้จ่ายชดเชย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284831" y="197470"/>
            <a:ext cx="1426369" cy="288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4"/>
              </a:lnSpc>
              <a:spcBef>
                <a:spcPct val="0"/>
              </a:spcBef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วัยแรงงานลดลง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557111" y="4704752"/>
            <a:ext cx="238750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สถานการณ์ปัญหา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70554" y="5963160"/>
            <a:ext cx="1278285" cy="288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4"/>
              </a:lnSpc>
              <a:spcBef>
                <a:spcPct val="0"/>
              </a:spcBef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ปัจเจก(บุคคล)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759828" y="6093208"/>
            <a:ext cx="1559421" cy="288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4"/>
              </a:lnSpc>
              <a:spcBef>
                <a:spcPct val="0"/>
              </a:spcBef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สภาพแวดล้อม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415877" y="7152968"/>
            <a:ext cx="1559421" cy="288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4"/>
              </a:lnSpc>
              <a:spcBef>
                <a:spcPct val="0"/>
              </a:spcBef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กายภาพ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918752" y="7152968"/>
            <a:ext cx="1559421" cy="288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4"/>
              </a:lnSpc>
              <a:spcBef>
                <a:spcPct val="0"/>
              </a:spcBef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สังคม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314625" y="6248910"/>
            <a:ext cx="1559421" cy="288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4"/>
              </a:lnSpc>
              <a:spcBef>
                <a:spcPct val="0"/>
              </a:spcBef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ระบบที่เกี่ยวข้อง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90035" y="6607772"/>
            <a:ext cx="2187327" cy="2422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ขาดความรู้</a:t>
            </a:r>
          </a:p>
          <a:p>
            <a:pPr algn="l">
              <a:lnSpc>
                <a:spcPts val="2464"/>
              </a:lnSpc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ค่านิยม/ความเชื่อ</a:t>
            </a:r>
          </a:p>
          <a:p>
            <a:pPr algn="l">
              <a:lnSpc>
                <a:spcPts val="2464"/>
              </a:lnSpc>
              <a:spcBef>
                <a:spcPct val="0"/>
              </a:spcBef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พฤติกรรม</a:t>
            </a:r>
          </a:p>
          <a:p>
            <a:pPr algn="l" marL="379985" indent="-189992" lvl="1">
              <a:lnSpc>
                <a:spcPts val="2464"/>
              </a:lnSpc>
              <a:spcBef>
                <a:spcPct val="0"/>
              </a:spcBef>
              <a:buFont typeface="Arial"/>
              <a:buChar char="•"/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ขับรถเร็ว</a:t>
            </a:r>
          </a:p>
          <a:p>
            <a:pPr algn="l" marL="379985" indent="-189992" lvl="1">
              <a:lnSpc>
                <a:spcPts val="2464"/>
              </a:lnSpc>
              <a:spcBef>
                <a:spcPct val="0"/>
              </a:spcBef>
              <a:buFont typeface="Arial"/>
              <a:buChar char="•"/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ดื่มสุรา</a:t>
            </a:r>
          </a:p>
          <a:p>
            <a:pPr algn="l" marL="379985" indent="-189992" lvl="1">
              <a:lnSpc>
                <a:spcPts val="2464"/>
              </a:lnSpc>
              <a:spcBef>
                <a:spcPct val="0"/>
              </a:spcBef>
              <a:buFont typeface="Arial"/>
              <a:buChar char="•"/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รถสภาพไม่ใช้งาน</a:t>
            </a:r>
          </a:p>
          <a:p>
            <a:pPr algn="l" marL="379985" indent="-189992" lvl="1">
              <a:lnSpc>
                <a:spcPts val="2464"/>
              </a:lnSpc>
              <a:spcBef>
                <a:spcPct val="0"/>
              </a:spcBef>
              <a:buFont typeface="Arial"/>
              <a:buChar char="•"/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ไม่สวมหมวกกันน็อค</a:t>
            </a:r>
          </a:p>
          <a:p>
            <a:pPr algn="l" marL="379985" indent="-189992" lvl="1">
              <a:lnSpc>
                <a:spcPts val="2464"/>
              </a:lnSpc>
              <a:spcBef>
                <a:spcPct val="0"/>
              </a:spcBef>
              <a:buFont typeface="Arial"/>
              <a:buChar char="•"/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ขับรถย้อนศร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130195" y="7845732"/>
            <a:ext cx="2541015" cy="211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9985" indent="-189992" lvl="1">
              <a:lnSpc>
                <a:spcPts val="2464"/>
              </a:lnSpc>
              <a:buFont typeface="Arial"/>
              <a:buChar char="•"/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สภาพถนนขรุขระ เป็นหลุม/บ่อ</a:t>
            </a:r>
          </a:p>
          <a:p>
            <a:pPr algn="l" marL="379985" indent="-189992" lvl="1">
              <a:lnSpc>
                <a:spcPts val="2464"/>
              </a:lnSpc>
              <a:buFont typeface="Arial"/>
              <a:buChar char="•"/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แสงสว่างไม่เพียงพอ</a:t>
            </a:r>
          </a:p>
          <a:p>
            <a:pPr algn="l" marL="379985" indent="-189992" lvl="1">
              <a:lnSpc>
                <a:spcPts val="2464"/>
              </a:lnSpc>
              <a:buFont typeface="Arial"/>
              <a:buChar char="•"/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ไม่มีป้ายบอกระยะทาง</a:t>
            </a:r>
          </a:p>
          <a:p>
            <a:pPr algn="l" marL="379985" indent="-189992" lvl="1">
              <a:lnSpc>
                <a:spcPts val="2464"/>
              </a:lnSpc>
              <a:buFont typeface="Arial"/>
              <a:buChar char="•"/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ต้นไม่บดบังวิสัยทัศน์</a:t>
            </a:r>
          </a:p>
          <a:p>
            <a:pPr algn="l" marL="379985" indent="-189992" lvl="1">
              <a:lnSpc>
                <a:spcPts val="2464"/>
              </a:lnSpc>
              <a:spcBef>
                <a:spcPct val="0"/>
              </a:spcBef>
              <a:buFont typeface="Arial"/>
              <a:buChar char="•"/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ไม่มีกระจกนูนโค้งในแยก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826151" y="7847912"/>
            <a:ext cx="2317849" cy="593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79985" indent="-189992" lvl="1">
              <a:lnSpc>
                <a:spcPts val="2464"/>
              </a:lnSpc>
              <a:buFont typeface="Arial"/>
              <a:buChar char="•"/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มีงานบุญ/ประเพณี</a:t>
            </a:r>
          </a:p>
          <a:p>
            <a:pPr algn="ctr" marL="379985" indent="-189992" lvl="1">
              <a:lnSpc>
                <a:spcPts val="2464"/>
              </a:lnSpc>
              <a:buFont typeface="Arial"/>
              <a:buChar char="•"/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ขาดมาตรการในสังคม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144000" y="6978216"/>
            <a:ext cx="2843639" cy="898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9985" indent="-189992" lvl="1">
              <a:lnSpc>
                <a:spcPts val="2464"/>
              </a:lnSpc>
              <a:buFont typeface="Arial"/>
              <a:buChar char="•"/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ไม่มี ศปถ.อปท.ในพื้นที่</a:t>
            </a:r>
          </a:p>
          <a:p>
            <a:pPr algn="just" marL="379985" indent="-189992" lvl="1">
              <a:lnSpc>
                <a:spcPts val="2464"/>
              </a:lnSpc>
              <a:buFont typeface="Arial"/>
              <a:buChar char="•"/>
            </a:pPr>
            <a:r>
              <a:rPr lang="en-US" sz="176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ขาดการบูรณาการแผนงานร่วมกันระหว่างหน่วยงาน</a:t>
            </a:r>
          </a:p>
        </p:txBody>
      </p:sp>
      <p:sp>
        <p:nvSpPr>
          <p:cNvPr name="Freeform 58" id="58"/>
          <p:cNvSpPr/>
          <p:nvPr/>
        </p:nvSpPr>
        <p:spPr>
          <a:xfrm flipH="false" flipV="false" rot="0">
            <a:off x="9720725" y="9692734"/>
            <a:ext cx="8567275" cy="594266"/>
          </a:xfrm>
          <a:custGeom>
            <a:avLst/>
            <a:gdLst/>
            <a:ahLst/>
            <a:cxnLst/>
            <a:rect r="r" b="b" t="t" l="l"/>
            <a:pathLst>
              <a:path h="594266" w="8567275">
                <a:moveTo>
                  <a:pt x="0" y="0"/>
                </a:moveTo>
                <a:lnTo>
                  <a:pt x="8567275" y="0"/>
                </a:lnTo>
                <a:lnTo>
                  <a:pt x="8567275" y="594266"/>
                </a:lnTo>
                <a:lnTo>
                  <a:pt x="0" y="594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420" t="-7217" r="0" b="-12466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-38805" t="0" r="-25586" b="-3699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56669" y="3656322"/>
            <a:ext cx="7404075" cy="2321408"/>
            <a:chOff x="0" y="0"/>
            <a:chExt cx="2141190" cy="6713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41190" cy="671330"/>
            </a:xfrm>
            <a:custGeom>
              <a:avLst/>
              <a:gdLst/>
              <a:ahLst/>
              <a:cxnLst/>
              <a:rect r="r" b="b" t="t" l="l"/>
              <a:pathLst>
                <a:path h="671330" w="2141190">
                  <a:moveTo>
                    <a:pt x="103517" y="0"/>
                  </a:moveTo>
                  <a:lnTo>
                    <a:pt x="2037673" y="0"/>
                  </a:lnTo>
                  <a:cubicBezTo>
                    <a:pt x="2094844" y="0"/>
                    <a:pt x="2141190" y="46346"/>
                    <a:pt x="2141190" y="103517"/>
                  </a:cubicBezTo>
                  <a:lnTo>
                    <a:pt x="2141190" y="567812"/>
                  </a:lnTo>
                  <a:cubicBezTo>
                    <a:pt x="2141190" y="595267"/>
                    <a:pt x="2130284" y="621597"/>
                    <a:pt x="2110870" y="641010"/>
                  </a:cubicBezTo>
                  <a:cubicBezTo>
                    <a:pt x="2091457" y="660423"/>
                    <a:pt x="2065127" y="671330"/>
                    <a:pt x="2037673" y="671330"/>
                  </a:cubicBezTo>
                  <a:lnTo>
                    <a:pt x="103517" y="671330"/>
                  </a:lnTo>
                  <a:cubicBezTo>
                    <a:pt x="46346" y="671330"/>
                    <a:pt x="0" y="624983"/>
                    <a:pt x="0" y="567812"/>
                  </a:cubicBezTo>
                  <a:lnTo>
                    <a:pt x="0" y="103517"/>
                  </a:lnTo>
                  <a:cubicBezTo>
                    <a:pt x="0" y="76063"/>
                    <a:pt x="10906" y="49733"/>
                    <a:pt x="30320" y="30320"/>
                  </a:cubicBezTo>
                  <a:cubicBezTo>
                    <a:pt x="49733" y="10906"/>
                    <a:pt x="76063" y="0"/>
                    <a:pt x="103517" y="0"/>
                  </a:cubicBezTo>
                  <a:close/>
                </a:path>
              </a:pathLst>
            </a:custGeom>
            <a:solidFill>
              <a:srgbClr val="3151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41190" cy="709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830442" y="-1625137"/>
            <a:ext cx="19948885" cy="4263631"/>
            <a:chOff x="0" y="0"/>
            <a:chExt cx="5629315" cy="12031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29315" cy="1203141"/>
            </a:xfrm>
            <a:custGeom>
              <a:avLst/>
              <a:gdLst/>
              <a:ahLst/>
              <a:cxnLst/>
              <a:rect r="r" b="b" t="t" l="l"/>
              <a:pathLst>
                <a:path h="1203141" w="5629315">
                  <a:moveTo>
                    <a:pt x="0" y="0"/>
                  </a:moveTo>
                  <a:lnTo>
                    <a:pt x="5629315" y="0"/>
                  </a:lnTo>
                  <a:lnTo>
                    <a:pt x="5629315" y="1203141"/>
                  </a:lnTo>
                  <a:lnTo>
                    <a:pt x="0" y="1203141"/>
                  </a:lnTo>
                  <a:close/>
                </a:path>
              </a:pathLst>
            </a:custGeom>
            <a:solidFill>
              <a:srgbClr val="3151B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629315" cy="1241241"/>
            </a:xfrm>
            <a:prstGeom prst="rect">
              <a:avLst/>
            </a:prstGeom>
          </p:spPr>
          <p:txBody>
            <a:bodyPr anchor="ctr" rtlCol="false" tIns="81280" lIns="81280" bIns="81280" rIns="81280"/>
            <a:lstStyle/>
            <a:p>
              <a:pPr algn="ctr">
                <a:lnSpc>
                  <a:spcPts val="2464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true" rot="0">
            <a:off x="17727730" y="5703313"/>
            <a:ext cx="2235880" cy="2235880"/>
          </a:xfrm>
          <a:custGeom>
            <a:avLst/>
            <a:gdLst/>
            <a:ahLst/>
            <a:cxnLst/>
            <a:rect r="r" b="b" t="t" l="l"/>
            <a:pathLst>
              <a:path h="2235880" w="2235880">
                <a:moveTo>
                  <a:pt x="2235880" y="2235880"/>
                </a:moveTo>
                <a:lnTo>
                  <a:pt x="0" y="2235880"/>
                </a:lnTo>
                <a:lnTo>
                  <a:pt x="0" y="0"/>
                </a:lnTo>
                <a:lnTo>
                  <a:pt x="2235880" y="0"/>
                </a:lnTo>
                <a:lnTo>
                  <a:pt x="2235880" y="223588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1694660" y="5703313"/>
            <a:ext cx="2235880" cy="2235880"/>
          </a:xfrm>
          <a:custGeom>
            <a:avLst/>
            <a:gdLst/>
            <a:ahLst/>
            <a:cxnLst/>
            <a:rect r="r" b="b" t="t" l="l"/>
            <a:pathLst>
              <a:path h="2235880" w="2235880">
                <a:moveTo>
                  <a:pt x="2235880" y="0"/>
                </a:moveTo>
                <a:lnTo>
                  <a:pt x="0" y="0"/>
                </a:lnTo>
                <a:lnTo>
                  <a:pt x="0" y="2235880"/>
                </a:lnTo>
                <a:lnTo>
                  <a:pt x="2235880" y="2235880"/>
                </a:lnTo>
                <a:lnTo>
                  <a:pt x="223588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807720" y="752871"/>
            <a:ext cx="10672560" cy="290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642"/>
              </a:lnSpc>
              <a:spcBef>
                <a:spcPct val="0"/>
              </a:spcBef>
            </a:pPr>
            <a:r>
              <a:rPr lang="en-US" b="true" sz="8315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วัตถ</a:t>
            </a:r>
            <a:r>
              <a:rPr lang="en-US" b="true" sz="8315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ุประสงค์ </a:t>
            </a:r>
          </a:p>
          <a:p>
            <a:pPr algn="ctr" marL="0" indent="0" lvl="0">
              <a:lnSpc>
                <a:spcPts val="11642"/>
              </a:lnSpc>
              <a:spcBef>
                <a:spcPct val="0"/>
              </a:spcBef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6551051" y="6644479"/>
            <a:ext cx="7545936" cy="2241113"/>
            <a:chOff x="0" y="0"/>
            <a:chExt cx="2182215" cy="6481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82215" cy="648109"/>
            </a:xfrm>
            <a:custGeom>
              <a:avLst/>
              <a:gdLst/>
              <a:ahLst/>
              <a:cxnLst/>
              <a:rect r="r" b="b" t="t" l="l"/>
              <a:pathLst>
                <a:path h="648109" w="2182215">
                  <a:moveTo>
                    <a:pt x="101571" y="0"/>
                  </a:moveTo>
                  <a:lnTo>
                    <a:pt x="2080643" y="0"/>
                  </a:lnTo>
                  <a:cubicBezTo>
                    <a:pt x="2107582" y="0"/>
                    <a:pt x="2133417" y="10701"/>
                    <a:pt x="2152465" y="29750"/>
                  </a:cubicBezTo>
                  <a:cubicBezTo>
                    <a:pt x="2171513" y="48798"/>
                    <a:pt x="2182215" y="74633"/>
                    <a:pt x="2182215" y="101571"/>
                  </a:cubicBezTo>
                  <a:lnTo>
                    <a:pt x="2182215" y="546538"/>
                  </a:lnTo>
                  <a:cubicBezTo>
                    <a:pt x="2182215" y="573476"/>
                    <a:pt x="2171513" y="599311"/>
                    <a:pt x="2152465" y="618360"/>
                  </a:cubicBezTo>
                  <a:cubicBezTo>
                    <a:pt x="2133417" y="637408"/>
                    <a:pt x="2107582" y="648109"/>
                    <a:pt x="2080643" y="648109"/>
                  </a:cubicBezTo>
                  <a:lnTo>
                    <a:pt x="101571" y="648109"/>
                  </a:lnTo>
                  <a:cubicBezTo>
                    <a:pt x="74633" y="648109"/>
                    <a:pt x="48798" y="637408"/>
                    <a:pt x="29750" y="618360"/>
                  </a:cubicBezTo>
                  <a:cubicBezTo>
                    <a:pt x="10701" y="599311"/>
                    <a:pt x="0" y="573476"/>
                    <a:pt x="0" y="546538"/>
                  </a:cubicBezTo>
                  <a:lnTo>
                    <a:pt x="0" y="101571"/>
                  </a:lnTo>
                  <a:cubicBezTo>
                    <a:pt x="0" y="74633"/>
                    <a:pt x="10701" y="48798"/>
                    <a:pt x="29750" y="29750"/>
                  </a:cubicBezTo>
                  <a:cubicBezTo>
                    <a:pt x="48798" y="10701"/>
                    <a:pt x="74633" y="0"/>
                    <a:pt x="101571" y="0"/>
                  </a:cubicBezTo>
                  <a:close/>
                </a:path>
              </a:pathLst>
            </a:custGeom>
            <a:solidFill>
              <a:srgbClr val="3151B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82215" cy="686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20125" y="4264576"/>
            <a:ext cx="714061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1. เพื่อสร้างระบบบริหารจัดการความปลอดภัยทางถนนในระดับตำบลที่มีประสิทธิภาพ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13178" y="7386743"/>
            <a:ext cx="714061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2. เพื่อลดการเกิดอุบัติเหตุและความรุนแรงของอุบัติเหตุในตำบลผักแพว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-513121" y="9007421"/>
            <a:ext cx="18801121" cy="1279579"/>
          </a:xfrm>
          <a:custGeom>
            <a:avLst/>
            <a:gdLst/>
            <a:ahLst/>
            <a:cxnLst/>
            <a:rect r="r" b="b" t="t" l="l"/>
            <a:pathLst>
              <a:path h="1279579" w="18801121">
                <a:moveTo>
                  <a:pt x="0" y="0"/>
                </a:moveTo>
                <a:lnTo>
                  <a:pt x="18801121" y="0"/>
                </a:lnTo>
                <a:lnTo>
                  <a:pt x="18801121" y="1279579"/>
                </a:lnTo>
                <a:lnTo>
                  <a:pt x="0" y="12795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317" r="0" b="-10391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0" y="0"/>
          <a:ext cx="1257300" cy="419100"/>
        </p:xfrm>
        <a:graphic>
          <a:graphicData uri="http://schemas.openxmlformats.org/presentationml/2006/ole">
            <p:oleObj imgW="1485900" imgH="6604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1571942" y="209550"/>
            <a:ext cx="13691410" cy="9867900"/>
          </a:xfrm>
          <a:custGeom>
            <a:avLst/>
            <a:gdLst/>
            <a:ahLst/>
            <a:cxnLst/>
            <a:rect r="r" b="b" t="t" l="l"/>
            <a:pathLst>
              <a:path h="9867900" w="13691410">
                <a:moveTo>
                  <a:pt x="0" y="0"/>
                </a:moveTo>
                <a:lnTo>
                  <a:pt x="13691409" y="0"/>
                </a:lnTo>
                <a:lnTo>
                  <a:pt x="13691409" y="9867900"/>
                </a:lnTo>
                <a:lnTo>
                  <a:pt x="0" y="98679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4644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9056" y="396059"/>
            <a:ext cx="12833697" cy="1735469"/>
            <a:chOff x="0" y="0"/>
            <a:chExt cx="5272789" cy="7130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72789" cy="713026"/>
            </a:xfrm>
            <a:custGeom>
              <a:avLst/>
              <a:gdLst/>
              <a:ahLst/>
              <a:cxnLst/>
              <a:rect r="r" b="b" t="t" l="l"/>
              <a:pathLst>
                <a:path h="713026" w="5272789">
                  <a:moveTo>
                    <a:pt x="203200" y="0"/>
                  </a:moveTo>
                  <a:lnTo>
                    <a:pt x="5272789" y="0"/>
                  </a:lnTo>
                  <a:lnTo>
                    <a:pt x="5069589" y="713026"/>
                  </a:lnTo>
                  <a:lnTo>
                    <a:pt x="0" y="7130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151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66675"/>
              <a:ext cx="5069589" cy="779701"/>
            </a:xfrm>
            <a:prstGeom prst="rect">
              <a:avLst/>
            </a:prstGeom>
          </p:spPr>
          <p:txBody>
            <a:bodyPr anchor="ctr" rtlCol="false" tIns="81280" lIns="81280" bIns="81280" rIns="81280"/>
            <a:lstStyle/>
            <a:p>
              <a:pPr algn="ctr">
                <a:lnSpc>
                  <a:spcPts val="425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16865" y="2329123"/>
            <a:ext cx="14136722" cy="7422496"/>
          </a:xfrm>
          <a:custGeom>
            <a:avLst/>
            <a:gdLst/>
            <a:ahLst/>
            <a:cxnLst/>
            <a:rect r="r" b="b" t="t" l="l"/>
            <a:pathLst>
              <a:path h="7422496" w="14136722">
                <a:moveTo>
                  <a:pt x="0" y="0"/>
                </a:moveTo>
                <a:lnTo>
                  <a:pt x="14136723" y="0"/>
                </a:lnTo>
                <a:lnTo>
                  <a:pt x="14136723" y="7422495"/>
                </a:lnTo>
                <a:lnTo>
                  <a:pt x="0" y="7422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090" r="0" b="-309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5144" y="687388"/>
            <a:ext cx="11861713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Grant Chart การดำเนินงานและงบประมาณ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718103" y="-51544"/>
            <a:ext cx="4569897" cy="1153270"/>
          </a:xfrm>
          <a:custGeom>
            <a:avLst/>
            <a:gdLst/>
            <a:ahLst/>
            <a:cxnLst/>
            <a:rect r="r" b="b" t="t" l="l"/>
            <a:pathLst>
              <a:path h="1153270" w="4569897">
                <a:moveTo>
                  <a:pt x="0" y="0"/>
                </a:moveTo>
                <a:lnTo>
                  <a:pt x="4569897" y="0"/>
                </a:lnTo>
                <a:lnTo>
                  <a:pt x="4569897" y="1153269"/>
                </a:lnTo>
                <a:lnTo>
                  <a:pt x="0" y="11532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033" r="0" b="-2033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-38805" t="0" r="-25586" b="-3699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468114" y="1266451"/>
            <a:ext cx="14100778" cy="1735469"/>
            <a:chOff x="0" y="0"/>
            <a:chExt cx="5793376" cy="7130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93375" cy="713026"/>
            </a:xfrm>
            <a:custGeom>
              <a:avLst/>
              <a:gdLst/>
              <a:ahLst/>
              <a:cxnLst/>
              <a:rect r="r" b="b" t="t" l="l"/>
              <a:pathLst>
                <a:path h="713026" w="5793375">
                  <a:moveTo>
                    <a:pt x="203200" y="0"/>
                  </a:moveTo>
                  <a:lnTo>
                    <a:pt x="5793375" y="0"/>
                  </a:lnTo>
                  <a:lnTo>
                    <a:pt x="5590175" y="713026"/>
                  </a:lnTo>
                  <a:lnTo>
                    <a:pt x="0" y="7130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151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66675"/>
              <a:ext cx="5590176" cy="779701"/>
            </a:xfrm>
            <a:prstGeom prst="rect">
              <a:avLst/>
            </a:prstGeom>
          </p:spPr>
          <p:txBody>
            <a:bodyPr anchor="ctr" rtlCol="false" tIns="81280" lIns="81280" bIns="81280" rIns="81280"/>
            <a:lstStyle/>
            <a:p>
              <a:pPr algn="ctr">
                <a:lnSpc>
                  <a:spcPts val="425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-8565064">
            <a:off x="-5446306" y="167058"/>
            <a:ext cx="10458901" cy="11207728"/>
          </a:xfrm>
          <a:custGeom>
            <a:avLst/>
            <a:gdLst/>
            <a:ahLst/>
            <a:cxnLst/>
            <a:rect r="r" b="b" t="t" l="l"/>
            <a:pathLst>
              <a:path h="11207728" w="10458901">
                <a:moveTo>
                  <a:pt x="10458901" y="0"/>
                </a:moveTo>
                <a:lnTo>
                  <a:pt x="0" y="0"/>
                </a:lnTo>
                <a:lnTo>
                  <a:pt x="0" y="11207728"/>
                </a:lnTo>
                <a:lnTo>
                  <a:pt x="10458901" y="11207728"/>
                </a:lnTo>
                <a:lnTo>
                  <a:pt x="10458901" y="0"/>
                </a:lnTo>
                <a:close/>
              </a:path>
            </a:pathLst>
          </a:custGeom>
          <a:blipFill>
            <a:blip r:embed="rId3"/>
            <a:stretch>
              <a:fillRect l="-23194" t="0" r="0" b="-18186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5400000">
            <a:off x="8789813" y="-1855105"/>
            <a:ext cx="2434000" cy="2434000"/>
          </a:xfrm>
          <a:custGeom>
            <a:avLst/>
            <a:gdLst/>
            <a:ahLst/>
            <a:cxnLst/>
            <a:rect r="r" b="b" t="t" l="l"/>
            <a:pathLst>
              <a:path h="2434000" w="2434000">
                <a:moveTo>
                  <a:pt x="2433999" y="0"/>
                </a:moveTo>
                <a:lnTo>
                  <a:pt x="0" y="0"/>
                </a:lnTo>
                <a:lnTo>
                  <a:pt x="0" y="2433999"/>
                </a:lnTo>
                <a:lnTo>
                  <a:pt x="2433999" y="2433999"/>
                </a:lnTo>
                <a:lnTo>
                  <a:pt x="243399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5400000">
            <a:off x="15333013" y="9694405"/>
            <a:ext cx="2235880" cy="2235880"/>
          </a:xfrm>
          <a:custGeom>
            <a:avLst/>
            <a:gdLst/>
            <a:ahLst/>
            <a:cxnLst/>
            <a:rect r="r" b="b" t="t" l="l"/>
            <a:pathLst>
              <a:path h="2235880" w="2235880">
                <a:moveTo>
                  <a:pt x="2235879" y="0"/>
                </a:moveTo>
                <a:lnTo>
                  <a:pt x="0" y="0"/>
                </a:lnTo>
                <a:lnTo>
                  <a:pt x="0" y="2235879"/>
                </a:lnTo>
                <a:lnTo>
                  <a:pt x="2235879" y="2235879"/>
                </a:lnTo>
                <a:lnTo>
                  <a:pt x="223587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40249" y="1329057"/>
            <a:ext cx="13964017" cy="200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55"/>
              </a:lnSpc>
            </a:pPr>
            <a:r>
              <a:rPr lang="en-US" sz="5754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ผลที่คาดว่าจะได้รับจากการดำเนินโครงการ</a:t>
            </a:r>
          </a:p>
          <a:p>
            <a:pPr algn="just" marL="0" indent="0" lvl="0">
              <a:lnSpc>
                <a:spcPts val="8055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293455" y="3142022"/>
            <a:ext cx="11426715" cy="521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B485F"/>
                </a:solidFill>
                <a:latin typeface="Sarabun"/>
                <a:ea typeface="Sarabun"/>
                <a:cs typeface="Sarabun"/>
                <a:sym typeface="Sarabun"/>
              </a:rPr>
              <a:t>มีศูนย์ปฏิบัติการจัดการความปลอดภัยทางถนน อปท. ที่มีความเข้มแข็งและสามารถดำเนินงานได้อย่างมีประสิทธิภาพ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B485F"/>
                </a:solidFill>
                <a:latin typeface="Sarabun"/>
                <a:ea typeface="Sarabun"/>
                <a:cs typeface="Sarabun"/>
                <a:sym typeface="Sarabun"/>
              </a:rPr>
              <a:t>ลดจำนวนอุบัติเหตุในตำบลผักแพวลงร้อยละ 15 จากปีฐาน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B485F"/>
                </a:solidFill>
                <a:latin typeface="Sarabun"/>
                <a:ea typeface="Sarabun"/>
                <a:cs typeface="Sarabun"/>
                <a:sym typeface="Sarabun"/>
              </a:rPr>
              <a:t>ลดความรุนแรงของอุบัติเหตุ โดยเฉพาะการบาดเจ็บรุนแรงลงร้อยละ 20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B485F"/>
                </a:solidFill>
                <a:latin typeface="Sarabun"/>
                <a:ea typeface="Sarabun"/>
                <a:cs typeface="Sarabun"/>
                <a:sym typeface="Sarabun"/>
              </a:rPr>
              <a:t>มีจุดเสี่ยงที่ได้รับการแก้ไขอย่างน้อย 10 จุด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B485F"/>
                </a:solidFill>
                <a:latin typeface="Sarabun"/>
                <a:ea typeface="Sarabun"/>
                <a:cs typeface="Sarabun"/>
                <a:sym typeface="Sarabun"/>
              </a:rPr>
              <a:t>ประชาชนมีความรู้และมีส่วนร่วมในการสร้างความปลอดภัยทางถนนเพิ่มขึ้น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B485F"/>
                </a:solidFill>
                <a:latin typeface="Sarabun"/>
                <a:ea typeface="Sarabun"/>
                <a:cs typeface="Sarabun"/>
                <a:sym typeface="Sarabun"/>
              </a:rPr>
              <a:t>มีข้อตกลงชุมชนและมาตรการป้องกันอุบัติเหตุที่เหมาะสมกับพื้นที่</a:t>
            </a:r>
          </a:p>
          <a:p>
            <a:pPr algn="just">
              <a:lnSpc>
                <a:spcPts val="4199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513121" y="9007421"/>
            <a:ext cx="18801121" cy="1279579"/>
          </a:xfrm>
          <a:custGeom>
            <a:avLst/>
            <a:gdLst/>
            <a:ahLst/>
            <a:cxnLst/>
            <a:rect r="r" b="b" t="t" l="l"/>
            <a:pathLst>
              <a:path h="1279579" w="18801121">
                <a:moveTo>
                  <a:pt x="0" y="0"/>
                </a:moveTo>
                <a:lnTo>
                  <a:pt x="18801121" y="0"/>
                </a:lnTo>
                <a:lnTo>
                  <a:pt x="18801121" y="1279579"/>
                </a:lnTo>
                <a:lnTo>
                  <a:pt x="0" y="12795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317" r="0" b="-10391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0442" y="-1615612"/>
            <a:ext cx="19948885" cy="4263631"/>
            <a:chOff x="0" y="0"/>
            <a:chExt cx="5629315" cy="12031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29315" cy="1203141"/>
            </a:xfrm>
            <a:custGeom>
              <a:avLst/>
              <a:gdLst/>
              <a:ahLst/>
              <a:cxnLst/>
              <a:rect r="r" b="b" t="t" l="l"/>
              <a:pathLst>
                <a:path h="1203141" w="5629315">
                  <a:moveTo>
                    <a:pt x="0" y="0"/>
                  </a:moveTo>
                  <a:lnTo>
                    <a:pt x="5629315" y="0"/>
                  </a:lnTo>
                  <a:lnTo>
                    <a:pt x="5629315" y="1203141"/>
                  </a:lnTo>
                  <a:lnTo>
                    <a:pt x="0" y="1203141"/>
                  </a:lnTo>
                  <a:close/>
                </a:path>
              </a:pathLst>
            </a:custGeom>
            <a:solidFill>
              <a:srgbClr val="3151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629315" cy="1241241"/>
            </a:xfrm>
            <a:prstGeom prst="rect">
              <a:avLst/>
            </a:prstGeom>
          </p:spPr>
          <p:txBody>
            <a:bodyPr anchor="ctr" rtlCol="false" tIns="81280" lIns="81280" bIns="81280" rIns="81280"/>
            <a:lstStyle/>
            <a:p>
              <a:pPr algn="ctr">
                <a:lnSpc>
                  <a:spcPts val="246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17727730" y="5703313"/>
            <a:ext cx="2235880" cy="2235880"/>
          </a:xfrm>
          <a:custGeom>
            <a:avLst/>
            <a:gdLst/>
            <a:ahLst/>
            <a:cxnLst/>
            <a:rect r="r" b="b" t="t" l="l"/>
            <a:pathLst>
              <a:path h="2235880" w="2235880">
                <a:moveTo>
                  <a:pt x="2235880" y="2235880"/>
                </a:moveTo>
                <a:lnTo>
                  <a:pt x="0" y="2235880"/>
                </a:lnTo>
                <a:lnTo>
                  <a:pt x="0" y="0"/>
                </a:lnTo>
                <a:lnTo>
                  <a:pt x="2235880" y="0"/>
                </a:lnTo>
                <a:lnTo>
                  <a:pt x="2235880" y="223588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1694660" y="5703313"/>
            <a:ext cx="2235880" cy="2235880"/>
          </a:xfrm>
          <a:custGeom>
            <a:avLst/>
            <a:gdLst/>
            <a:ahLst/>
            <a:cxnLst/>
            <a:rect r="r" b="b" t="t" l="l"/>
            <a:pathLst>
              <a:path h="2235880" w="2235880">
                <a:moveTo>
                  <a:pt x="2235880" y="0"/>
                </a:moveTo>
                <a:lnTo>
                  <a:pt x="0" y="0"/>
                </a:lnTo>
                <a:lnTo>
                  <a:pt x="0" y="2235880"/>
                </a:lnTo>
                <a:lnTo>
                  <a:pt x="2235880" y="2235880"/>
                </a:lnTo>
                <a:lnTo>
                  <a:pt x="223588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9907" y="7832091"/>
            <a:ext cx="4657792" cy="78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6"/>
              </a:lnSpc>
            </a:pPr>
            <a:r>
              <a:rPr lang="en-US" b="true" sz="3899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คลาวเดีย อัลวิส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68097" y="7917816"/>
            <a:ext cx="4650797" cy="78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6"/>
              </a:lnSpc>
            </a:pPr>
            <a:r>
              <a:rPr lang="en-US" b="true" sz="3899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บริจิตต์ ชวาร์ตซ์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49293" y="7832091"/>
            <a:ext cx="4650797" cy="78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6"/>
              </a:lnSpc>
            </a:pPr>
            <a:r>
              <a:rPr lang="en-US" b="true" sz="3899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อโดรา มอนต์มินี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71316"/>
            <a:ext cx="16800761" cy="446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22"/>
              </a:lnSpc>
              <a:spcBef>
                <a:spcPct val="0"/>
              </a:spcBef>
            </a:pPr>
            <a:r>
              <a:rPr lang="en-US" b="true" sz="8515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ผู้รับทุ</a:t>
            </a:r>
            <a:r>
              <a:rPr lang="en-US" b="true" sz="8515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นและผู้รับผิดชอบโครงการ</a:t>
            </a:r>
          </a:p>
          <a:p>
            <a:pPr algn="ctr" marL="0" indent="0" lvl="0">
              <a:lnSpc>
                <a:spcPts val="11922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11922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579907" y="8550622"/>
            <a:ext cx="4657792" cy="62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3"/>
              </a:lnSpc>
            </a:pPr>
            <a:r>
              <a:rPr lang="en-US" b="true" sz="3100">
                <a:solidFill>
                  <a:srgbClr val="FFFFFF"/>
                </a:solidFill>
                <a:latin typeface="Anantason Medium"/>
                <a:ea typeface="Anantason Medium"/>
                <a:cs typeface="Anantason Medium"/>
                <a:sym typeface="Anantason Medium"/>
              </a:rPr>
              <a:t>ฝ่าย การตลาด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66349" y="8550622"/>
            <a:ext cx="4650797" cy="62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3"/>
              </a:lnSpc>
            </a:pPr>
            <a:r>
              <a:rPr lang="en-US" b="true" sz="3100">
                <a:solidFill>
                  <a:srgbClr val="FFFFFF"/>
                </a:solidFill>
                <a:latin typeface="Anantason Medium"/>
                <a:ea typeface="Anantason Medium"/>
                <a:cs typeface="Anantason Medium"/>
                <a:sym typeface="Anantason Medium"/>
              </a:rPr>
              <a:t>ฝ่าย การตลาด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49293" y="8550622"/>
            <a:ext cx="4650797" cy="62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3"/>
              </a:lnSpc>
            </a:pPr>
            <a:r>
              <a:rPr lang="en-US" b="true" sz="3100">
                <a:solidFill>
                  <a:srgbClr val="FFFFFF"/>
                </a:solidFill>
                <a:latin typeface="Anantason Medium"/>
                <a:ea typeface="Anantason Medium"/>
                <a:cs typeface="Anantason Medium"/>
                <a:sym typeface="Anantason Medium"/>
              </a:rPr>
              <a:t>ฝ่าย การตลาด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262888"/>
            <a:ext cx="15402750" cy="2572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  <a:spcBef>
                <a:spcPct val="0"/>
              </a:spcBef>
            </a:pPr>
          </a:p>
          <a:p>
            <a:pPr algn="l">
              <a:lnSpc>
                <a:spcPts val="4369"/>
              </a:lnSpc>
              <a:spcBef>
                <a:spcPct val="0"/>
              </a:spcBef>
            </a:pPr>
            <a:r>
              <a:rPr lang="en-US" sz="312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1 นายจักริน เอมโอษฐ์ ผู้รับผิดชอบโครงการ   ตำแหน่ง   (นักวิเคราะห์นโยบายและแผนชำนาญการ)</a:t>
            </a:r>
          </a:p>
          <a:p>
            <a:pPr algn="l">
              <a:lnSpc>
                <a:spcPts val="4369"/>
              </a:lnSpc>
              <a:spcBef>
                <a:spcPct val="0"/>
              </a:spcBef>
            </a:pPr>
            <a:r>
              <a:rPr lang="en-US" sz="312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2 นางสาวเพียรฤดี คำอุดม ผู้ร่วมทำโครงการ  ตำแหน่ง (นักวิชาการสาธารณสุขปฏิบัติการ)</a:t>
            </a:r>
          </a:p>
          <a:p>
            <a:pPr algn="l">
              <a:lnSpc>
                <a:spcPts val="4369"/>
              </a:lnSpc>
              <a:spcBef>
                <a:spcPct val="0"/>
              </a:spcBef>
            </a:pPr>
            <a:r>
              <a:rPr lang="en-US" sz="312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3 นายบุญเรือง จันถา ผู้ร่วมทำโครงการ           ตำแหน่ง (ผู้ใหญ่บ้าน หมู่ 6 )</a:t>
            </a:r>
          </a:p>
          <a:p>
            <a:pPr algn="l">
              <a:lnSpc>
                <a:spcPts val="2987"/>
              </a:lnSpc>
              <a:spcBef>
                <a:spcPct val="0"/>
              </a:spcBef>
            </a:pPr>
            <a:r>
              <a:rPr lang="en-US" sz="2133">
                <a:solidFill>
                  <a:srgbClr val="000000"/>
                </a:solidFill>
                <a:latin typeface="Chonburi"/>
                <a:ea typeface="Chonburi"/>
                <a:cs typeface="Chonburi"/>
                <a:sym typeface="Chonburi"/>
              </a:rPr>
              <a:t>  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513121" y="9007421"/>
            <a:ext cx="18801121" cy="1279579"/>
          </a:xfrm>
          <a:custGeom>
            <a:avLst/>
            <a:gdLst/>
            <a:ahLst/>
            <a:cxnLst/>
            <a:rect r="r" b="b" t="t" l="l"/>
            <a:pathLst>
              <a:path h="1279579" w="18801121">
                <a:moveTo>
                  <a:pt x="0" y="0"/>
                </a:moveTo>
                <a:lnTo>
                  <a:pt x="18801121" y="0"/>
                </a:lnTo>
                <a:lnTo>
                  <a:pt x="18801121" y="1279579"/>
                </a:lnTo>
                <a:lnTo>
                  <a:pt x="0" y="12795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317" r="0" b="-10391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-38805" t="0" r="-25586" b="-3699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266550" y="5036979"/>
            <a:ext cx="11754899" cy="2473674"/>
            <a:chOff x="0" y="0"/>
            <a:chExt cx="2066441" cy="4348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66441" cy="434857"/>
            </a:xfrm>
            <a:custGeom>
              <a:avLst/>
              <a:gdLst/>
              <a:ahLst/>
              <a:cxnLst/>
              <a:rect r="r" b="b" t="t" l="l"/>
              <a:pathLst>
                <a:path h="434857" w="2066441">
                  <a:moveTo>
                    <a:pt x="65861" y="0"/>
                  </a:moveTo>
                  <a:lnTo>
                    <a:pt x="2000579" y="0"/>
                  </a:lnTo>
                  <a:cubicBezTo>
                    <a:pt x="2018047" y="0"/>
                    <a:pt x="2034799" y="6939"/>
                    <a:pt x="2047150" y="19290"/>
                  </a:cubicBezTo>
                  <a:cubicBezTo>
                    <a:pt x="2059502" y="31642"/>
                    <a:pt x="2066441" y="48394"/>
                    <a:pt x="2066441" y="65861"/>
                  </a:cubicBezTo>
                  <a:lnTo>
                    <a:pt x="2066441" y="368996"/>
                  </a:lnTo>
                  <a:cubicBezTo>
                    <a:pt x="2066441" y="405370"/>
                    <a:pt x="2036954" y="434857"/>
                    <a:pt x="2000579" y="434857"/>
                  </a:cubicBezTo>
                  <a:lnTo>
                    <a:pt x="65861" y="434857"/>
                  </a:lnTo>
                  <a:cubicBezTo>
                    <a:pt x="29487" y="434857"/>
                    <a:pt x="0" y="405370"/>
                    <a:pt x="0" y="368996"/>
                  </a:cubicBezTo>
                  <a:lnTo>
                    <a:pt x="0" y="65861"/>
                  </a:lnTo>
                  <a:cubicBezTo>
                    <a:pt x="0" y="29487"/>
                    <a:pt x="29487" y="0"/>
                    <a:pt x="65861" y="0"/>
                  </a:cubicBezTo>
                  <a:close/>
                </a:path>
              </a:pathLst>
            </a:custGeom>
            <a:solidFill>
              <a:srgbClr val="4063C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66441" cy="4729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80704">
            <a:off x="16604149" y="-1578104"/>
            <a:ext cx="5002805" cy="15676870"/>
            <a:chOff x="0" y="0"/>
            <a:chExt cx="1317611" cy="41288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7611" cy="4128888"/>
            </a:xfrm>
            <a:custGeom>
              <a:avLst/>
              <a:gdLst/>
              <a:ahLst/>
              <a:cxnLst/>
              <a:rect r="r" b="b" t="t" l="l"/>
              <a:pathLst>
                <a:path h="4128888" w="1317611">
                  <a:moveTo>
                    <a:pt x="0" y="0"/>
                  </a:moveTo>
                  <a:lnTo>
                    <a:pt x="1317611" y="0"/>
                  </a:lnTo>
                  <a:lnTo>
                    <a:pt x="1317611" y="4128888"/>
                  </a:lnTo>
                  <a:lnTo>
                    <a:pt x="0" y="4128888"/>
                  </a:lnTo>
                  <a:close/>
                </a:path>
              </a:pathLst>
            </a:custGeom>
            <a:solidFill>
              <a:srgbClr val="3151B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17611" cy="4166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4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396476" y="5090306"/>
            <a:ext cx="11495049" cy="212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442"/>
              </a:lnSpc>
              <a:spcBef>
                <a:spcPct val="0"/>
              </a:spcBef>
            </a:pPr>
            <a:r>
              <a:rPr lang="en-US" b="true" sz="12458" strike="noStrike" u="none">
                <a:solidFill>
                  <a:srgbClr val="FFFFFF"/>
                </a:solidFill>
                <a:latin typeface="Emmali Bold"/>
                <a:ea typeface="Emmali Bold"/>
                <a:cs typeface="Emmali Bold"/>
                <a:sym typeface="Emmali Bold"/>
              </a:rPr>
              <a:t>จบการนำเสนอ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29143" y="2433447"/>
            <a:ext cx="13429714" cy="237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373"/>
              </a:lnSpc>
              <a:spcBef>
                <a:spcPct val="0"/>
              </a:spcBef>
            </a:pPr>
            <a:r>
              <a:rPr lang="en-US" b="true" sz="13838">
                <a:solidFill>
                  <a:srgbClr val="3151B2"/>
                </a:solidFill>
                <a:latin typeface="Emmali Bold"/>
                <a:ea typeface="Emmali Bold"/>
                <a:cs typeface="Emmali Bold"/>
                <a:sym typeface="Emmali Bold"/>
              </a:rPr>
              <a:t>ขอขอบคุณ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-5400000">
            <a:off x="1554974" y="-2229870"/>
            <a:ext cx="2979318" cy="2979318"/>
          </a:xfrm>
          <a:custGeom>
            <a:avLst/>
            <a:gdLst/>
            <a:ahLst/>
            <a:cxnLst/>
            <a:rect r="r" b="b" t="t" l="l"/>
            <a:pathLst>
              <a:path h="2979318" w="2979318">
                <a:moveTo>
                  <a:pt x="2979318" y="0"/>
                </a:moveTo>
                <a:lnTo>
                  <a:pt x="0" y="0"/>
                </a:lnTo>
                <a:lnTo>
                  <a:pt x="0" y="2979318"/>
                </a:lnTo>
                <a:lnTo>
                  <a:pt x="2979318" y="2979318"/>
                </a:lnTo>
                <a:lnTo>
                  <a:pt x="297931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13706147" y="-2229870"/>
            <a:ext cx="2979318" cy="2979318"/>
          </a:xfrm>
          <a:custGeom>
            <a:avLst/>
            <a:gdLst/>
            <a:ahLst/>
            <a:cxnLst/>
            <a:rect r="r" b="b" t="t" l="l"/>
            <a:pathLst>
              <a:path h="2979318" w="2979318">
                <a:moveTo>
                  <a:pt x="0" y="0"/>
                </a:moveTo>
                <a:lnTo>
                  <a:pt x="2979318" y="0"/>
                </a:lnTo>
                <a:lnTo>
                  <a:pt x="2979318" y="2979318"/>
                </a:lnTo>
                <a:lnTo>
                  <a:pt x="0" y="2979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-5400000">
            <a:off x="8273860" y="9579174"/>
            <a:ext cx="2979318" cy="2979318"/>
          </a:xfrm>
          <a:custGeom>
            <a:avLst/>
            <a:gdLst/>
            <a:ahLst/>
            <a:cxnLst/>
            <a:rect r="r" b="b" t="t" l="l"/>
            <a:pathLst>
              <a:path h="2979318" w="2979318">
                <a:moveTo>
                  <a:pt x="2979318" y="0"/>
                </a:moveTo>
                <a:lnTo>
                  <a:pt x="0" y="0"/>
                </a:lnTo>
                <a:lnTo>
                  <a:pt x="0" y="2979318"/>
                </a:lnTo>
                <a:lnTo>
                  <a:pt x="2979318" y="2979318"/>
                </a:lnTo>
                <a:lnTo>
                  <a:pt x="297931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-339168">
            <a:off x="-3333585" y="-2568556"/>
            <a:ext cx="5002805" cy="15676870"/>
            <a:chOff x="0" y="0"/>
            <a:chExt cx="1317611" cy="41288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17611" cy="4128888"/>
            </a:xfrm>
            <a:custGeom>
              <a:avLst/>
              <a:gdLst/>
              <a:ahLst/>
              <a:cxnLst/>
              <a:rect r="r" b="b" t="t" l="l"/>
              <a:pathLst>
                <a:path h="4128888" w="1317611">
                  <a:moveTo>
                    <a:pt x="0" y="0"/>
                  </a:moveTo>
                  <a:lnTo>
                    <a:pt x="1317611" y="0"/>
                  </a:lnTo>
                  <a:lnTo>
                    <a:pt x="1317611" y="4128888"/>
                  </a:lnTo>
                  <a:lnTo>
                    <a:pt x="0" y="4128888"/>
                  </a:lnTo>
                  <a:close/>
                </a:path>
              </a:pathLst>
            </a:custGeom>
            <a:solidFill>
              <a:srgbClr val="3151B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17611" cy="4166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4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-513121" y="9007421"/>
            <a:ext cx="18801121" cy="1279579"/>
          </a:xfrm>
          <a:custGeom>
            <a:avLst/>
            <a:gdLst/>
            <a:ahLst/>
            <a:cxnLst/>
            <a:rect r="r" b="b" t="t" l="l"/>
            <a:pathLst>
              <a:path h="1279579" w="18801121">
                <a:moveTo>
                  <a:pt x="0" y="0"/>
                </a:moveTo>
                <a:lnTo>
                  <a:pt x="18801121" y="0"/>
                </a:lnTo>
                <a:lnTo>
                  <a:pt x="18801121" y="1279579"/>
                </a:lnTo>
                <a:lnTo>
                  <a:pt x="0" y="12795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317" r="0" b="-10391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0" y="0"/>
            <a:ext cx="4569897" cy="1153270"/>
          </a:xfrm>
          <a:custGeom>
            <a:avLst/>
            <a:gdLst/>
            <a:ahLst/>
            <a:cxnLst/>
            <a:rect r="r" b="b" t="t" l="l"/>
            <a:pathLst>
              <a:path h="1153270" w="4569897">
                <a:moveTo>
                  <a:pt x="0" y="0"/>
                </a:moveTo>
                <a:lnTo>
                  <a:pt x="4569897" y="0"/>
                </a:lnTo>
                <a:lnTo>
                  <a:pt x="4569897" y="1153270"/>
                </a:lnTo>
                <a:lnTo>
                  <a:pt x="0" y="11532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033" r="0" b="-2033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DAGq9Gdaie4</dc:identifier>
  <dcterms:modified xsi:type="dcterms:W3CDTF">2011-08-01T06:04:30Z</dcterms:modified>
  <cp:revision>1</cp:revision>
  <dc:title>งานนำเสนอวันที่ 25 มิ.ย สสส อบต.ผักแพว</dc:title>
</cp:coreProperties>
</file>